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7" r:id="rId5"/>
    <p:sldId id="259" r:id="rId6"/>
    <p:sldId id="260" r:id="rId7"/>
    <p:sldId id="261" r:id="rId8"/>
    <p:sldId id="262" r:id="rId9"/>
    <p:sldId id="263"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377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D2A39-5F4D-82C2-8CBA-EFC0FC10E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6222C-3AED-3A3E-2246-44F91B160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100E8-E697-7A83-4EB9-2F34C2F615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2802A-6D18-390E-5B77-2A882A3FE9E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035764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r>
              <a:rPr lang="en-US" sz="2200" b="1" dirty="0">
                <a:solidFill>
                  <a:srgbClr val="FFFFFF"/>
                </a:solidFill>
                <a:latin typeface="Calibri" pitchFamily="34" charset="0"/>
                <a:ea typeface="Calibri" pitchFamily="34" charset="-122"/>
                <a:cs typeface="Calibri" pitchFamily="34" charset="-120"/>
              </a:rPr>
              <a:t>Team Name : Logic Builders</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graphicFrame>
        <p:nvGraphicFramePr>
          <p:cNvPr id="8" name="Table 7">
            <a:extLst>
              <a:ext uri="{FF2B5EF4-FFF2-40B4-BE49-F238E27FC236}">
                <a16:creationId xmlns:a16="http://schemas.microsoft.com/office/drawing/2014/main" id="{B01CA195-D232-464B-EAD0-394A4FEC5D2B}"/>
              </a:ext>
            </a:extLst>
          </p:cNvPr>
          <p:cNvGraphicFramePr>
            <a:graphicFrameLocks noGrp="1"/>
          </p:cNvGraphicFramePr>
          <p:nvPr>
            <p:extLst>
              <p:ext uri="{D42A27DB-BD31-4B8C-83A1-F6EECF244321}">
                <p14:modId xmlns:p14="http://schemas.microsoft.com/office/powerpoint/2010/main" val="227655575"/>
              </p:ext>
            </p:extLst>
          </p:nvPr>
        </p:nvGraphicFramePr>
        <p:xfrm>
          <a:off x="365760" y="1278573"/>
          <a:ext cx="8412480" cy="2304288"/>
        </p:xfrm>
        <a:graphic>
          <a:graphicData uri="http://schemas.openxmlformats.org/drawingml/2006/table">
            <a:tbl>
              <a:tblPr/>
              <a:tblGrid>
                <a:gridCol w="2286000">
                  <a:extLst>
                    <a:ext uri="{9D8B030D-6E8A-4147-A177-3AD203B41FA5}">
                      <a16:colId xmlns:a16="http://schemas.microsoft.com/office/drawing/2014/main" val="2312502992"/>
                    </a:ext>
                  </a:extLst>
                </a:gridCol>
                <a:gridCol w="2286000">
                  <a:extLst>
                    <a:ext uri="{9D8B030D-6E8A-4147-A177-3AD203B41FA5}">
                      <a16:colId xmlns:a16="http://schemas.microsoft.com/office/drawing/2014/main" val="1856191674"/>
                    </a:ext>
                  </a:extLst>
                </a:gridCol>
                <a:gridCol w="1828800">
                  <a:extLst>
                    <a:ext uri="{9D8B030D-6E8A-4147-A177-3AD203B41FA5}">
                      <a16:colId xmlns:a16="http://schemas.microsoft.com/office/drawing/2014/main" val="3808326687"/>
                    </a:ext>
                  </a:extLst>
                </a:gridCol>
                <a:gridCol w="2011680">
                  <a:extLst>
                    <a:ext uri="{9D8B030D-6E8A-4147-A177-3AD203B41FA5}">
                      <a16:colId xmlns:a16="http://schemas.microsoft.com/office/drawing/2014/main" val="4241923213"/>
                    </a:ext>
                  </a:extLst>
                </a:gridCol>
              </a:tblGrid>
              <a:tr h="768096">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Team Members Names</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Engineering Specialisation</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Graduating Year</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College Names</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extLst>
                  <a:ext uri="{0D108BD9-81ED-4DB2-BD59-A6C34878D82A}">
                    <a16:rowId xmlns:a16="http://schemas.microsoft.com/office/drawing/2014/main" val="2792555111"/>
                  </a:ext>
                </a:extLst>
              </a:tr>
              <a:tr h="768096">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Meghma Das</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400" dirty="0">
                          <a:latin typeface="Calibri" charset="0"/>
                          <a:ea typeface="Calibri" charset="0"/>
                          <a:cs typeface="Calibri" charset="0"/>
                        </a:rPr>
                        <a:t>Information Technology</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2027</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MCKV Institute of Engineering</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555139334"/>
                  </a:ext>
                </a:extLst>
              </a:tr>
              <a:tr h="768096">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Argha Pal</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400" dirty="0">
                          <a:latin typeface="Calibri" charset="0"/>
                          <a:ea typeface="Calibri" charset="0"/>
                          <a:cs typeface="Calibri" charset="0"/>
                        </a:rPr>
                        <a:t>Information Technology</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2027</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MCKV Institute of Engineering</a:t>
                      </a:r>
                      <a:endParaRPr lang="en-US" sz="14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44449668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Tell Us a Bit About Yourself</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graphicFrame>
        <p:nvGraphicFramePr>
          <p:cNvPr id="8" name="Table 0">
            <a:extLst>
              <a:ext uri="{FF2B5EF4-FFF2-40B4-BE49-F238E27FC236}">
                <a16:creationId xmlns:a16="http://schemas.microsoft.com/office/drawing/2014/main" id="{D8CC1FDF-CC1C-9C1E-22D5-1A49CBB83B0F}"/>
              </a:ext>
            </a:extLst>
          </p:cNvPr>
          <p:cNvGraphicFramePr>
            <a:graphicFrameLocks noGrp="1"/>
          </p:cNvGraphicFramePr>
          <p:nvPr>
            <p:extLst>
              <p:ext uri="{D42A27DB-BD31-4B8C-83A1-F6EECF244321}">
                <p14:modId xmlns:p14="http://schemas.microsoft.com/office/powerpoint/2010/main" val="1449951934"/>
              </p:ext>
            </p:extLst>
          </p:nvPr>
        </p:nvGraphicFramePr>
        <p:xfrm>
          <a:off x="365760" y="682752"/>
          <a:ext cx="8426547" cy="4021443"/>
        </p:xfrm>
        <a:graphic>
          <a:graphicData uri="http://schemas.openxmlformats.org/drawingml/2006/table">
            <a:tbl>
              <a:tblPr/>
              <a:tblGrid>
                <a:gridCol w="2808849">
                  <a:extLst>
                    <a:ext uri="{9D8B030D-6E8A-4147-A177-3AD203B41FA5}">
                      <a16:colId xmlns:a16="http://schemas.microsoft.com/office/drawing/2014/main" val="20000"/>
                    </a:ext>
                  </a:extLst>
                </a:gridCol>
                <a:gridCol w="2808849">
                  <a:extLst>
                    <a:ext uri="{9D8B030D-6E8A-4147-A177-3AD203B41FA5}">
                      <a16:colId xmlns:a16="http://schemas.microsoft.com/office/drawing/2014/main" val="20001"/>
                    </a:ext>
                  </a:extLst>
                </a:gridCol>
                <a:gridCol w="2808849">
                  <a:extLst>
                    <a:ext uri="{9D8B030D-6E8A-4147-A177-3AD203B41FA5}">
                      <a16:colId xmlns:a16="http://schemas.microsoft.com/office/drawing/2014/main" val="20002"/>
                    </a:ext>
                  </a:extLst>
                </a:gridCol>
              </a:tblGrid>
              <a:tr h="725801">
                <a:tc>
                  <a:txBody>
                    <a:bodyPr/>
                    <a:lstStyle/>
                    <a:p>
                      <a:pPr marL="0" indent="0">
                        <a:buNone/>
                      </a:pP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Meghma Das</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Argha Pal</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DB954"/>
                    </a:solidFill>
                  </a:tcPr>
                </a:tc>
                <a:extLst>
                  <a:ext uri="{0D108BD9-81ED-4DB2-BD59-A6C34878D82A}">
                    <a16:rowId xmlns:a16="http://schemas.microsoft.com/office/drawing/2014/main" val="10000"/>
                  </a:ext>
                </a:extLst>
              </a:tr>
              <a:tr h="924252">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Any projects you've worked on</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300" dirty="0">
                          <a:latin typeface="Calibri" charset="0"/>
                          <a:ea typeface="Calibri" charset="0"/>
                          <a:cs typeface="Calibri" charset="0"/>
                        </a:rPr>
                        <a:t>Movie Recommendation System,</a:t>
                      </a:r>
                      <a:r>
                        <a:rPr lang="en-IN" sz="1800" b="0" i="0" kern="1200" dirty="0">
                          <a:solidFill>
                            <a:schemeClr val="tx1"/>
                          </a:solidFill>
                          <a:effectLst/>
                          <a:latin typeface="+mn-lt"/>
                          <a:ea typeface="+mn-ea"/>
                          <a:cs typeface="+mn-cs"/>
                        </a:rPr>
                        <a:t> </a:t>
                      </a:r>
                      <a:r>
                        <a:rPr lang="en-IN" sz="1300" b="0" i="0" kern="1200" dirty="0">
                          <a:solidFill>
                            <a:schemeClr val="tx1"/>
                          </a:solidFill>
                          <a:effectLst/>
                          <a:latin typeface="+mn-lt"/>
                          <a:ea typeface="+mn-ea"/>
                          <a:cs typeface="+mn-cs"/>
                        </a:rPr>
                        <a:t>AI tutoring system for rural India, Meeting Schedular Agent</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Calibri" charset="0"/>
                          <a:ea typeface="Calibri" charset="0"/>
                          <a:cs typeface="Calibri" charset="0"/>
                        </a:rPr>
                        <a:t>Movie Recommendation System,</a:t>
                      </a:r>
                      <a:r>
                        <a:rPr lang="en-IN" sz="1800" b="0" i="0" kern="1200" dirty="0">
                          <a:solidFill>
                            <a:schemeClr val="tx1"/>
                          </a:solidFill>
                          <a:effectLst/>
                          <a:latin typeface="+mn-lt"/>
                          <a:ea typeface="+mn-ea"/>
                          <a:cs typeface="+mn-cs"/>
                        </a:rPr>
                        <a:t> </a:t>
                      </a:r>
                      <a:r>
                        <a:rPr lang="en-IN" sz="1300" b="0" i="0" kern="1200" dirty="0">
                          <a:solidFill>
                            <a:schemeClr val="tx1"/>
                          </a:solidFill>
                          <a:effectLst/>
                          <a:latin typeface="+mn-lt"/>
                          <a:ea typeface="+mn-ea"/>
                          <a:cs typeface="+mn-cs"/>
                        </a:rPr>
                        <a:t>AI tutoring system for rural India, Health Coach Agent</a:t>
                      </a:r>
                      <a:endParaRPr lang="en-US" sz="1300" dirty="0">
                        <a:latin typeface="Calibri" charset="0"/>
                        <a:ea typeface="Calibri" charset="0"/>
                        <a:cs typeface="Calibri" charset="0"/>
                      </a:endParaRPr>
                    </a:p>
                    <a:p>
                      <a:pPr marL="0" indent="0">
                        <a:buNone/>
                      </a:pP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850899">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Past Hackathon experiences</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000000"/>
                          </a:solidFill>
                          <a:latin typeface="Calibri" pitchFamily="34" charset="0"/>
                          <a:ea typeface="Calibri" pitchFamily="34" charset="-122"/>
                          <a:cs typeface="Calibri" pitchFamily="34" charset="-120"/>
                        </a:rPr>
                        <a:t>Smart India Hackathon 2024, Smart India Hackathon 2025, Infosys Global Hackathon 2025, Brain Dead 2k26</a:t>
                      </a:r>
                      <a:endParaRPr lang="en-US" sz="1300" dirty="0">
                        <a:latin typeface="Calibri" charset="0"/>
                        <a:ea typeface="Calibri" charset="0"/>
                        <a:cs typeface="Calibri" charset="0"/>
                      </a:endParaRPr>
                    </a:p>
                    <a:p>
                      <a:pPr marL="0" indent="0">
                        <a:buNone/>
                      </a:pP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Smart India Hackathon 2024, Smart India Hackathon 2025, Brain Dead 2k26</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725801">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Accolades or awards received</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300" dirty="0">
                          <a:latin typeface="Calibri" charset="0"/>
                          <a:ea typeface="Calibri" charset="0"/>
                          <a:cs typeface="Calibri" charset="0"/>
                        </a:rPr>
                        <a:t>NA</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725801">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Other details (If any)</a:t>
                      </a:r>
                      <a:endParaRPr lang="en-US" sz="1300" dirty="0">
                        <a:latin typeface="Calibri" charset="0"/>
                        <a:ea typeface="Calibri" charset="0"/>
                        <a:cs typeface="Calibri"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300" dirty="0">
                          <a:latin typeface="Calibri" charset="0"/>
                          <a:ea typeface="Calibri" charset="0"/>
                          <a:cs typeface="Calibri" charset="0"/>
                        </a:rPr>
                        <a:t>NA</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300" dirty="0">
                          <a:latin typeface="Calibri" charset="0"/>
                          <a:ea typeface="Calibri" charset="0"/>
                          <a:cs typeface="Calibri" charset="0"/>
                        </a:rPr>
                        <a:t>NA</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3: Driving Behavior Score</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Text 5"/>
          <p:cNvSpPr/>
          <p:nvPr/>
        </p:nvSpPr>
        <p:spPr>
          <a:xfrm>
            <a:off x="365760" y="777240"/>
            <a:ext cx="5120640" cy="365760"/>
          </a:xfrm>
          <a:prstGeom prst="rect">
            <a:avLst/>
          </a:prstGeom>
          <a:noFill/>
          <a:ln/>
        </p:spPr>
        <p:txBody>
          <a:bodyPr wrap="square" rtlCol="0" anchor="ctr"/>
          <a:lstStyle/>
          <a:p>
            <a:pPr marL="0" indent="0">
              <a:buNone/>
            </a:pPr>
            <a:r>
              <a:rPr lang="en-US" sz="1600" b="1" dirty="0">
                <a:solidFill>
                  <a:srgbClr val="0E7A3A"/>
                </a:solidFill>
                <a:latin typeface="Calibri" pitchFamily="34" charset="0"/>
                <a:ea typeface="Calibri" pitchFamily="34" charset="-122"/>
                <a:cs typeface="Calibri" pitchFamily="34" charset="-120"/>
              </a:rPr>
              <a:t>Solution Overview</a:t>
            </a:r>
            <a:endParaRPr lang="en-US" sz="1600" dirty="0"/>
          </a:p>
        </p:txBody>
      </p:sp>
      <p:sp>
        <p:nvSpPr>
          <p:cNvPr id="8" name="Text 6"/>
          <p:cNvSpPr/>
          <p:nvPr/>
        </p:nvSpPr>
        <p:spPr>
          <a:xfrm>
            <a:off x="365760" y="1170432"/>
            <a:ext cx="5029200" cy="822960"/>
          </a:xfrm>
          <a:prstGeom prst="rect">
            <a:avLst/>
          </a:prstGeom>
          <a:noFill/>
          <a:ln/>
        </p:spPr>
        <p:txBody>
          <a:bodyPr wrap="square" rtlCol="0" anchor="t"/>
          <a:lstStyle/>
          <a:p>
            <a:pPr marL="0" indent="0">
              <a:buNone/>
            </a:pPr>
            <a:r>
              <a:rPr lang="en-US" sz="1300" b="1" dirty="0">
                <a:solidFill>
                  <a:srgbClr val="1DB954"/>
                </a:solidFill>
                <a:latin typeface="Calibri" pitchFamily="34" charset="0"/>
                <a:ea typeface="Calibri" pitchFamily="34" charset="-122"/>
                <a:cs typeface="Calibri" pitchFamily="34" charset="-120"/>
              </a:rPr>
              <a:t>RideIQ</a:t>
            </a:r>
            <a:r>
              <a:rPr lang="en-US" sz="1300" dirty="0">
                <a:solidFill>
                  <a:srgbClr val="444444"/>
                </a:solidFill>
                <a:latin typeface="Calibri" pitchFamily="34" charset="0"/>
                <a:ea typeface="Calibri" pitchFamily="34" charset="-122"/>
                <a:cs typeface="Calibri" pitchFamily="34" charset="-120"/>
              </a:rPr>
              <a:t> is a real-time two-wheeler driving behavior scoring system using low-cost sensor fusion (IMU + GPS) and a jerk-based scoring algorithm.</a:t>
            </a:r>
            <a:endParaRPr lang="en-US" sz="1300" dirty="0"/>
          </a:p>
        </p:txBody>
      </p:sp>
      <p:sp>
        <p:nvSpPr>
          <p:cNvPr id="9" name="Shape 7"/>
          <p:cNvSpPr/>
          <p:nvPr/>
        </p:nvSpPr>
        <p:spPr>
          <a:xfrm>
            <a:off x="365760" y="2057400"/>
            <a:ext cx="5029200" cy="402336"/>
          </a:xfrm>
          <a:prstGeom prst="rect">
            <a:avLst/>
          </a:prstGeom>
          <a:solidFill>
            <a:srgbClr val="F0FAF4"/>
          </a:solidFill>
          <a:ln w="12700">
            <a:solidFill>
              <a:srgbClr val="D0E8D8"/>
            </a:solidFill>
            <a:prstDash val="solid"/>
          </a:ln>
        </p:spPr>
      </p:sp>
      <p:sp>
        <p:nvSpPr>
          <p:cNvPr id="10" name="Shape 8"/>
          <p:cNvSpPr/>
          <p:nvPr/>
        </p:nvSpPr>
        <p:spPr>
          <a:xfrm>
            <a:off x="365760" y="2057400"/>
            <a:ext cx="73152" cy="402336"/>
          </a:xfrm>
          <a:prstGeom prst="rect">
            <a:avLst/>
          </a:prstGeom>
          <a:solidFill>
            <a:srgbClr val="1DB954"/>
          </a:solidFill>
          <a:ln w="12700">
            <a:solidFill>
              <a:srgbClr val="1DB954"/>
            </a:solidFill>
            <a:prstDash val="solid"/>
          </a:ln>
        </p:spPr>
      </p:sp>
      <p:sp>
        <p:nvSpPr>
          <p:cNvPr id="11" name="Text 9"/>
          <p:cNvSpPr/>
          <p:nvPr/>
        </p:nvSpPr>
        <p:spPr>
          <a:xfrm>
            <a:off x="502920" y="2057400"/>
            <a:ext cx="1005840" cy="402336"/>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Sensors:</a:t>
            </a:r>
            <a:endParaRPr lang="en-US" sz="1200" dirty="0"/>
          </a:p>
        </p:txBody>
      </p:sp>
      <p:sp>
        <p:nvSpPr>
          <p:cNvPr id="12" name="Text 10"/>
          <p:cNvSpPr/>
          <p:nvPr/>
        </p:nvSpPr>
        <p:spPr>
          <a:xfrm>
            <a:off x="1508760" y="2057400"/>
            <a:ext cx="3840480" cy="402336"/>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MPU-6050 IMU + NEO-6M GPS + Barometer on ESP32</a:t>
            </a:r>
            <a:endParaRPr lang="en-US" sz="1200" dirty="0"/>
          </a:p>
        </p:txBody>
      </p:sp>
      <p:sp>
        <p:nvSpPr>
          <p:cNvPr id="13" name="Shape 11"/>
          <p:cNvSpPr/>
          <p:nvPr/>
        </p:nvSpPr>
        <p:spPr>
          <a:xfrm>
            <a:off x="365760" y="2532888"/>
            <a:ext cx="5029200" cy="402336"/>
          </a:xfrm>
          <a:prstGeom prst="rect">
            <a:avLst/>
          </a:prstGeom>
          <a:solidFill>
            <a:srgbClr val="FFFFFF"/>
          </a:solidFill>
          <a:ln w="12700">
            <a:solidFill>
              <a:srgbClr val="D0E8D8"/>
            </a:solidFill>
            <a:prstDash val="solid"/>
          </a:ln>
        </p:spPr>
      </p:sp>
      <p:sp>
        <p:nvSpPr>
          <p:cNvPr id="14" name="Shape 12"/>
          <p:cNvSpPr/>
          <p:nvPr/>
        </p:nvSpPr>
        <p:spPr>
          <a:xfrm>
            <a:off x="365760" y="2532888"/>
            <a:ext cx="73152" cy="402336"/>
          </a:xfrm>
          <a:prstGeom prst="rect">
            <a:avLst/>
          </a:prstGeom>
          <a:solidFill>
            <a:srgbClr val="1DB954"/>
          </a:solidFill>
          <a:ln w="12700">
            <a:solidFill>
              <a:srgbClr val="1DB954"/>
            </a:solidFill>
            <a:prstDash val="solid"/>
          </a:ln>
        </p:spPr>
      </p:sp>
      <p:sp>
        <p:nvSpPr>
          <p:cNvPr id="15" name="Text 13"/>
          <p:cNvSpPr/>
          <p:nvPr/>
        </p:nvSpPr>
        <p:spPr>
          <a:xfrm>
            <a:off x="502920" y="2532888"/>
            <a:ext cx="1005840" cy="402336"/>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Algorithm:</a:t>
            </a:r>
            <a:endParaRPr lang="en-US" sz="1200" dirty="0"/>
          </a:p>
        </p:txBody>
      </p:sp>
      <p:sp>
        <p:nvSpPr>
          <p:cNvPr id="16" name="Text 14"/>
          <p:cNvSpPr/>
          <p:nvPr/>
        </p:nvSpPr>
        <p:spPr>
          <a:xfrm>
            <a:off x="1508760" y="2532888"/>
            <a:ext cx="3840480" cy="402336"/>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Weighted jerk-based scoring across 5 parameters</a:t>
            </a:r>
            <a:endParaRPr lang="en-US" sz="1200" dirty="0"/>
          </a:p>
        </p:txBody>
      </p:sp>
      <p:sp>
        <p:nvSpPr>
          <p:cNvPr id="17" name="Shape 15"/>
          <p:cNvSpPr/>
          <p:nvPr/>
        </p:nvSpPr>
        <p:spPr>
          <a:xfrm>
            <a:off x="365760" y="3008376"/>
            <a:ext cx="5029200" cy="402336"/>
          </a:xfrm>
          <a:prstGeom prst="rect">
            <a:avLst/>
          </a:prstGeom>
          <a:solidFill>
            <a:srgbClr val="F0FAF4"/>
          </a:solidFill>
          <a:ln w="12700">
            <a:solidFill>
              <a:srgbClr val="D0E8D8"/>
            </a:solidFill>
            <a:prstDash val="solid"/>
          </a:ln>
        </p:spPr>
      </p:sp>
      <p:sp>
        <p:nvSpPr>
          <p:cNvPr id="18" name="Shape 16"/>
          <p:cNvSpPr/>
          <p:nvPr/>
        </p:nvSpPr>
        <p:spPr>
          <a:xfrm>
            <a:off x="365760" y="3008376"/>
            <a:ext cx="73152" cy="402336"/>
          </a:xfrm>
          <a:prstGeom prst="rect">
            <a:avLst/>
          </a:prstGeom>
          <a:solidFill>
            <a:srgbClr val="1DB954"/>
          </a:solidFill>
          <a:ln w="12700">
            <a:solidFill>
              <a:srgbClr val="1DB954"/>
            </a:solidFill>
            <a:prstDash val="solid"/>
          </a:ln>
        </p:spPr>
      </p:sp>
      <p:sp>
        <p:nvSpPr>
          <p:cNvPr id="19" name="Text 17"/>
          <p:cNvSpPr/>
          <p:nvPr/>
        </p:nvSpPr>
        <p:spPr>
          <a:xfrm>
            <a:off x="502920" y="3008376"/>
            <a:ext cx="1005840" cy="402336"/>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Real-time:</a:t>
            </a:r>
            <a:endParaRPr lang="en-US" sz="1200" dirty="0"/>
          </a:p>
        </p:txBody>
      </p:sp>
      <p:sp>
        <p:nvSpPr>
          <p:cNvPr id="20" name="Text 18"/>
          <p:cNvSpPr/>
          <p:nvPr/>
        </p:nvSpPr>
        <p:spPr>
          <a:xfrm>
            <a:off x="1508760" y="3008376"/>
            <a:ext cx="3840480" cy="402336"/>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Score updated every 5 seconds via BLE/Wi-Fi</a:t>
            </a:r>
            <a:endParaRPr lang="en-US" sz="1200" dirty="0"/>
          </a:p>
        </p:txBody>
      </p:sp>
      <p:sp>
        <p:nvSpPr>
          <p:cNvPr id="21" name="Shape 19"/>
          <p:cNvSpPr/>
          <p:nvPr/>
        </p:nvSpPr>
        <p:spPr>
          <a:xfrm>
            <a:off x="365760" y="3483864"/>
            <a:ext cx="5029200" cy="402336"/>
          </a:xfrm>
          <a:prstGeom prst="rect">
            <a:avLst/>
          </a:prstGeom>
          <a:solidFill>
            <a:srgbClr val="FFFFFF"/>
          </a:solidFill>
          <a:ln w="12700">
            <a:solidFill>
              <a:srgbClr val="D0E8D8"/>
            </a:solidFill>
            <a:prstDash val="solid"/>
          </a:ln>
        </p:spPr>
      </p:sp>
      <p:sp>
        <p:nvSpPr>
          <p:cNvPr id="22" name="Shape 20"/>
          <p:cNvSpPr/>
          <p:nvPr/>
        </p:nvSpPr>
        <p:spPr>
          <a:xfrm>
            <a:off x="365760" y="3483864"/>
            <a:ext cx="73152" cy="402336"/>
          </a:xfrm>
          <a:prstGeom prst="rect">
            <a:avLst/>
          </a:prstGeom>
          <a:solidFill>
            <a:srgbClr val="1DB954"/>
          </a:solidFill>
          <a:ln w="12700">
            <a:solidFill>
              <a:srgbClr val="1DB954"/>
            </a:solidFill>
            <a:prstDash val="solid"/>
          </a:ln>
        </p:spPr>
      </p:sp>
      <p:sp>
        <p:nvSpPr>
          <p:cNvPr id="23" name="Text 21"/>
          <p:cNvSpPr/>
          <p:nvPr/>
        </p:nvSpPr>
        <p:spPr>
          <a:xfrm>
            <a:off x="502920" y="3483864"/>
            <a:ext cx="1005840" cy="402336"/>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Cost:</a:t>
            </a:r>
            <a:endParaRPr lang="en-US" sz="1200" dirty="0"/>
          </a:p>
        </p:txBody>
      </p:sp>
      <p:sp>
        <p:nvSpPr>
          <p:cNvPr id="24" name="Text 22"/>
          <p:cNvSpPr/>
          <p:nvPr/>
        </p:nvSpPr>
        <p:spPr>
          <a:xfrm>
            <a:off x="1508760" y="3483864"/>
            <a:ext cx="3840480" cy="402336"/>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Total Bill Of Material under ₹1,000 per unit</a:t>
            </a:r>
            <a:endParaRPr lang="en-US" sz="1200" dirty="0"/>
          </a:p>
        </p:txBody>
      </p:sp>
      <p:sp>
        <p:nvSpPr>
          <p:cNvPr id="25" name="Shape 23"/>
          <p:cNvSpPr/>
          <p:nvPr/>
        </p:nvSpPr>
        <p:spPr>
          <a:xfrm>
            <a:off x="365760" y="3959352"/>
            <a:ext cx="5029200" cy="402336"/>
          </a:xfrm>
          <a:prstGeom prst="rect">
            <a:avLst/>
          </a:prstGeom>
          <a:solidFill>
            <a:srgbClr val="F0FAF4"/>
          </a:solidFill>
          <a:ln w="12700">
            <a:solidFill>
              <a:srgbClr val="D0E8D8"/>
            </a:solidFill>
            <a:prstDash val="solid"/>
          </a:ln>
        </p:spPr>
      </p:sp>
      <p:sp>
        <p:nvSpPr>
          <p:cNvPr id="26" name="Shape 24"/>
          <p:cNvSpPr/>
          <p:nvPr/>
        </p:nvSpPr>
        <p:spPr>
          <a:xfrm>
            <a:off x="365760" y="3959352"/>
            <a:ext cx="73152" cy="402336"/>
          </a:xfrm>
          <a:prstGeom prst="rect">
            <a:avLst/>
          </a:prstGeom>
          <a:solidFill>
            <a:srgbClr val="1DB954"/>
          </a:solidFill>
          <a:ln w="12700">
            <a:solidFill>
              <a:srgbClr val="1DB954"/>
            </a:solidFill>
            <a:prstDash val="solid"/>
          </a:ln>
        </p:spPr>
      </p:sp>
      <p:sp>
        <p:nvSpPr>
          <p:cNvPr id="27" name="Text 25"/>
          <p:cNvSpPr/>
          <p:nvPr/>
        </p:nvSpPr>
        <p:spPr>
          <a:xfrm>
            <a:off x="502920" y="3959352"/>
            <a:ext cx="1005840" cy="402336"/>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Output:</a:t>
            </a:r>
            <a:endParaRPr lang="en-US" sz="1200" dirty="0"/>
          </a:p>
        </p:txBody>
      </p:sp>
      <p:sp>
        <p:nvSpPr>
          <p:cNvPr id="28" name="Text 26"/>
          <p:cNvSpPr/>
          <p:nvPr/>
        </p:nvSpPr>
        <p:spPr>
          <a:xfrm>
            <a:off x="1508760" y="3959352"/>
            <a:ext cx="3840480" cy="402336"/>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Dashboard, cloud log, insurance &amp; fleet integration</a:t>
            </a:r>
            <a:endParaRPr lang="en-US" sz="1200" dirty="0"/>
          </a:p>
        </p:txBody>
      </p:sp>
      <p:sp>
        <p:nvSpPr>
          <p:cNvPr id="29" name="Shape 27"/>
          <p:cNvSpPr/>
          <p:nvPr/>
        </p:nvSpPr>
        <p:spPr>
          <a:xfrm>
            <a:off x="5623560" y="777240"/>
            <a:ext cx="3154680" cy="3840480"/>
          </a:xfrm>
          <a:prstGeom prst="rect">
            <a:avLst/>
          </a:prstGeom>
          <a:solidFill>
            <a:srgbClr val="0E1A14"/>
          </a:solidFill>
          <a:ln w="12700">
            <a:solidFill>
              <a:srgbClr val="1DB954"/>
            </a:solidFill>
            <a:prstDash val="solid"/>
          </a:ln>
        </p:spPr>
      </p:sp>
      <p:sp>
        <p:nvSpPr>
          <p:cNvPr id="30" name="Text 28"/>
          <p:cNvSpPr/>
          <p:nvPr/>
        </p:nvSpPr>
        <p:spPr>
          <a:xfrm>
            <a:off x="5715000" y="868680"/>
            <a:ext cx="2926080" cy="347472"/>
          </a:xfrm>
          <a:prstGeom prst="rect">
            <a:avLst/>
          </a:prstGeom>
          <a:noFill/>
          <a:ln/>
        </p:spPr>
        <p:txBody>
          <a:bodyPr wrap="square" rtlCol="0" anchor="ctr"/>
          <a:lstStyle/>
          <a:p>
            <a:pPr marL="0" indent="0" algn="ctr">
              <a:buNone/>
            </a:pPr>
            <a:r>
              <a:rPr lang="en-US" sz="1400" b="1" dirty="0">
                <a:solidFill>
                  <a:srgbClr val="1DB954"/>
                </a:solidFill>
                <a:latin typeface="Calibri" pitchFamily="34" charset="0"/>
                <a:ea typeface="Calibri" pitchFamily="34" charset="-122"/>
                <a:cs typeface="Calibri" pitchFamily="34" charset="-120"/>
              </a:rPr>
              <a:t>Key Differentiators</a:t>
            </a:r>
            <a:endParaRPr lang="en-US" sz="1400" dirty="0"/>
          </a:p>
        </p:txBody>
      </p:sp>
      <p:sp>
        <p:nvSpPr>
          <p:cNvPr id="31" name="Shape 29"/>
          <p:cNvSpPr/>
          <p:nvPr/>
        </p:nvSpPr>
        <p:spPr>
          <a:xfrm>
            <a:off x="5742432" y="1371600"/>
            <a:ext cx="256032" cy="256032"/>
          </a:xfrm>
          <a:prstGeom prst="ellipse">
            <a:avLst/>
          </a:prstGeom>
          <a:solidFill>
            <a:srgbClr val="1DB954"/>
          </a:solidFill>
          <a:ln w="12700">
            <a:solidFill>
              <a:srgbClr val="1DB954"/>
            </a:solidFill>
            <a:prstDash val="solid"/>
          </a:ln>
        </p:spPr>
      </p:sp>
      <p:sp>
        <p:nvSpPr>
          <p:cNvPr id="32" name="Text 30"/>
          <p:cNvSpPr/>
          <p:nvPr/>
        </p:nvSpPr>
        <p:spPr>
          <a:xfrm>
            <a:off x="6080760" y="1325880"/>
            <a:ext cx="256032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Context-aware scoring</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(speed zone + road type)</a:t>
            </a:r>
            <a:endParaRPr lang="en-US" sz="1100" dirty="0"/>
          </a:p>
        </p:txBody>
      </p:sp>
      <p:sp>
        <p:nvSpPr>
          <p:cNvPr id="33" name="Shape 31"/>
          <p:cNvSpPr/>
          <p:nvPr/>
        </p:nvSpPr>
        <p:spPr>
          <a:xfrm>
            <a:off x="5742432" y="2011680"/>
            <a:ext cx="256032" cy="256032"/>
          </a:xfrm>
          <a:prstGeom prst="ellipse">
            <a:avLst/>
          </a:prstGeom>
          <a:solidFill>
            <a:srgbClr val="1DB954"/>
          </a:solidFill>
          <a:ln w="12700">
            <a:solidFill>
              <a:srgbClr val="1DB954"/>
            </a:solidFill>
            <a:prstDash val="solid"/>
          </a:ln>
        </p:spPr>
      </p:sp>
      <p:sp>
        <p:nvSpPr>
          <p:cNvPr id="34" name="Text 32"/>
          <p:cNvSpPr/>
          <p:nvPr/>
        </p:nvSpPr>
        <p:spPr>
          <a:xfrm>
            <a:off x="6080760" y="1965960"/>
            <a:ext cx="256032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Kalman filter IMU+GPS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fusion for lean angle</a:t>
            </a:r>
            <a:endParaRPr lang="en-US" sz="1100" dirty="0"/>
          </a:p>
        </p:txBody>
      </p:sp>
      <p:sp>
        <p:nvSpPr>
          <p:cNvPr id="35" name="Shape 33"/>
          <p:cNvSpPr/>
          <p:nvPr/>
        </p:nvSpPr>
        <p:spPr>
          <a:xfrm>
            <a:off x="5742432" y="2651760"/>
            <a:ext cx="256032" cy="256032"/>
          </a:xfrm>
          <a:prstGeom prst="ellipse">
            <a:avLst/>
          </a:prstGeom>
          <a:solidFill>
            <a:srgbClr val="1DB954"/>
          </a:solidFill>
          <a:ln w="12700">
            <a:solidFill>
              <a:srgbClr val="1DB954"/>
            </a:solidFill>
            <a:prstDash val="solid"/>
          </a:ln>
        </p:spPr>
      </p:sp>
      <p:sp>
        <p:nvSpPr>
          <p:cNvPr id="36" name="Text 34"/>
          <p:cNvSpPr/>
          <p:nvPr/>
        </p:nvSpPr>
        <p:spPr>
          <a:xfrm>
            <a:off x="6080760" y="2606040"/>
            <a:ext cx="256032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Jerk-based thresholds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(mathematically grounded)</a:t>
            </a:r>
            <a:endParaRPr lang="en-US" sz="1100" dirty="0"/>
          </a:p>
        </p:txBody>
      </p:sp>
      <p:sp>
        <p:nvSpPr>
          <p:cNvPr id="37" name="Shape 35"/>
          <p:cNvSpPr/>
          <p:nvPr/>
        </p:nvSpPr>
        <p:spPr>
          <a:xfrm>
            <a:off x="5742432" y="3291840"/>
            <a:ext cx="256032" cy="256032"/>
          </a:xfrm>
          <a:prstGeom prst="ellipse">
            <a:avLst/>
          </a:prstGeom>
          <a:solidFill>
            <a:srgbClr val="1DB954"/>
          </a:solidFill>
          <a:ln w="12700">
            <a:solidFill>
              <a:srgbClr val="1DB954"/>
            </a:solidFill>
            <a:prstDash val="solid"/>
          </a:ln>
        </p:spPr>
      </p:sp>
      <p:sp>
        <p:nvSpPr>
          <p:cNvPr id="38" name="Text 36"/>
          <p:cNvSpPr/>
          <p:nvPr/>
        </p:nvSpPr>
        <p:spPr>
          <a:xfrm>
            <a:off x="6080760" y="3246120"/>
            <a:ext cx="256032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Adaptive baseline learns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rider over first 5 trips</a:t>
            </a:r>
            <a:endParaRPr lang="en-US" sz="1100" dirty="0"/>
          </a:p>
        </p:txBody>
      </p:sp>
      <p:sp>
        <p:nvSpPr>
          <p:cNvPr id="39" name="Shape 37"/>
          <p:cNvSpPr/>
          <p:nvPr/>
        </p:nvSpPr>
        <p:spPr>
          <a:xfrm>
            <a:off x="5742432" y="3931920"/>
            <a:ext cx="256032" cy="256032"/>
          </a:xfrm>
          <a:prstGeom prst="ellipse">
            <a:avLst/>
          </a:prstGeom>
          <a:solidFill>
            <a:srgbClr val="1DB954"/>
          </a:solidFill>
          <a:ln w="12700">
            <a:solidFill>
              <a:srgbClr val="1DB954"/>
            </a:solidFill>
            <a:prstDash val="solid"/>
          </a:ln>
        </p:spPr>
      </p:sp>
      <p:sp>
        <p:nvSpPr>
          <p:cNvPr id="40" name="Text 38"/>
          <p:cNvSpPr/>
          <p:nvPr/>
        </p:nvSpPr>
        <p:spPr>
          <a:xfrm>
            <a:off x="6080760" y="3886200"/>
            <a:ext cx="2560320" cy="5486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 internet required</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(edge inference on ESP32)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78E2C-7999-0984-F828-7CD5E26382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A148F7-14C5-E853-5124-228CBB6B20F7}"/>
              </a:ext>
            </a:extLst>
          </p:cNvPr>
          <p:cNvSpPr/>
          <p:nvPr/>
        </p:nvSpPr>
        <p:spPr>
          <a:xfrm>
            <a:off x="0" y="0"/>
            <a:ext cx="9144000" cy="594360"/>
          </a:xfrm>
          <a:prstGeom prst="rect">
            <a:avLst/>
          </a:prstGeom>
          <a:solidFill>
            <a:srgbClr val="1A1A1A"/>
          </a:solidFill>
          <a:ln w="12700">
            <a:solidFill>
              <a:srgbClr val="1A1A1A"/>
            </a:solidFill>
            <a:prstDash val="solid"/>
          </a:ln>
        </p:spPr>
      </p:sp>
      <p:sp>
        <p:nvSpPr>
          <p:cNvPr id="3" name="Shape 1">
            <a:extLst>
              <a:ext uri="{FF2B5EF4-FFF2-40B4-BE49-F238E27FC236}">
                <a16:creationId xmlns:a16="http://schemas.microsoft.com/office/drawing/2014/main" id="{E5156183-65B6-93A5-0AB8-B5CA48DA4D25}"/>
              </a:ext>
            </a:extLst>
          </p:cNvPr>
          <p:cNvSpPr/>
          <p:nvPr/>
        </p:nvSpPr>
        <p:spPr>
          <a:xfrm>
            <a:off x="0" y="0"/>
            <a:ext cx="164592" cy="594360"/>
          </a:xfrm>
          <a:prstGeom prst="rect">
            <a:avLst/>
          </a:prstGeom>
          <a:solidFill>
            <a:srgbClr val="1DB954"/>
          </a:solidFill>
          <a:ln w="12700">
            <a:solidFill>
              <a:srgbClr val="1DB954"/>
            </a:solidFill>
            <a:prstDash val="solid"/>
          </a:ln>
        </p:spPr>
      </p:sp>
      <p:sp>
        <p:nvSpPr>
          <p:cNvPr id="5" name="Shape 3">
            <a:extLst>
              <a:ext uri="{FF2B5EF4-FFF2-40B4-BE49-F238E27FC236}">
                <a16:creationId xmlns:a16="http://schemas.microsoft.com/office/drawing/2014/main" id="{09625709-1882-9169-5ADE-CC3F9EABBD8E}"/>
              </a:ext>
            </a:extLst>
          </p:cNvPr>
          <p:cNvSpPr/>
          <p:nvPr/>
        </p:nvSpPr>
        <p:spPr>
          <a:xfrm>
            <a:off x="0" y="4800600"/>
            <a:ext cx="9144000" cy="342900"/>
          </a:xfrm>
          <a:prstGeom prst="rect">
            <a:avLst/>
          </a:prstGeom>
          <a:solidFill>
            <a:srgbClr val="1A1A1A"/>
          </a:solidFill>
          <a:ln w="12700">
            <a:solidFill>
              <a:srgbClr val="1A1A1A"/>
            </a:solidFill>
            <a:prstDash val="solid"/>
          </a:ln>
        </p:spPr>
      </p:sp>
      <p:sp>
        <p:nvSpPr>
          <p:cNvPr id="6" name="Text 4">
            <a:extLst>
              <a:ext uri="{FF2B5EF4-FFF2-40B4-BE49-F238E27FC236}">
                <a16:creationId xmlns:a16="http://schemas.microsoft.com/office/drawing/2014/main" id="{6DC2DECC-B914-48CF-DC92-CE8627BBCB11}"/>
              </a:ext>
            </a:extLst>
          </p:cNvPr>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41" name="Text 2">
            <a:extLst>
              <a:ext uri="{FF2B5EF4-FFF2-40B4-BE49-F238E27FC236}">
                <a16:creationId xmlns:a16="http://schemas.microsoft.com/office/drawing/2014/main" id="{C96863E1-35C3-DA15-A123-E31633BDC902}"/>
              </a:ext>
            </a:extLst>
          </p:cNvPr>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Sensors Details</a:t>
            </a:r>
            <a:endParaRPr lang="en-US" sz="2200" dirty="0"/>
          </a:p>
        </p:txBody>
      </p:sp>
      <p:sp>
        <p:nvSpPr>
          <p:cNvPr id="42" name="Shape 6">
            <a:extLst>
              <a:ext uri="{FF2B5EF4-FFF2-40B4-BE49-F238E27FC236}">
                <a16:creationId xmlns:a16="http://schemas.microsoft.com/office/drawing/2014/main" id="{045A9E7E-D6B3-9F08-8F9C-FE876C917377}"/>
              </a:ext>
            </a:extLst>
          </p:cNvPr>
          <p:cNvSpPr/>
          <p:nvPr/>
        </p:nvSpPr>
        <p:spPr>
          <a:xfrm>
            <a:off x="164592" y="815220"/>
            <a:ext cx="2595488" cy="3865803"/>
          </a:xfrm>
          <a:prstGeom prst="rect">
            <a:avLst/>
          </a:prstGeom>
          <a:solidFill>
            <a:srgbClr val="F0FAF4"/>
          </a:solidFill>
          <a:ln w="12700">
            <a:solidFill>
              <a:srgbClr val="D8EEE0"/>
            </a:solidFill>
            <a:prstDash val="solid"/>
          </a:ln>
        </p:spPr>
      </p:sp>
      <p:sp>
        <p:nvSpPr>
          <p:cNvPr id="45" name="Shape 6">
            <a:extLst>
              <a:ext uri="{FF2B5EF4-FFF2-40B4-BE49-F238E27FC236}">
                <a16:creationId xmlns:a16="http://schemas.microsoft.com/office/drawing/2014/main" id="{B8FAFBC7-96EA-B348-BAB5-D26DC3A746F5}"/>
              </a:ext>
            </a:extLst>
          </p:cNvPr>
          <p:cNvSpPr/>
          <p:nvPr/>
        </p:nvSpPr>
        <p:spPr>
          <a:xfrm>
            <a:off x="2902780" y="824366"/>
            <a:ext cx="2595488" cy="3865803"/>
          </a:xfrm>
          <a:prstGeom prst="rect">
            <a:avLst/>
          </a:prstGeom>
          <a:solidFill>
            <a:srgbClr val="F0FAF4"/>
          </a:solidFill>
          <a:ln w="12700">
            <a:solidFill>
              <a:srgbClr val="D8EEE0"/>
            </a:solidFill>
            <a:prstDash val="solid"/>
          </a:ln>
        </p:spPr>
      </p:sp>
      <p:sp>
        <p:nvSpPr>
          <p:cNvPr id="46" name="Shape 6">
            <a:extLst>
              <a:ext uri="{FF2B5EF4-FFF2-40B4-BE49-F238E27FC236}">
                <a16:creationId xmlns:a16="http://schemas.microsoft.com/office/drawing/2014/main" id="{6F94CF18-E621-C550-5E18-5C475124BEDC}"/>
              </a:ext>
            </a:extLst>
          </p:cNvPr>
          <p:cNvSpPr/>
          <p:nvPr/>
        </p:nvSpPr>
        <p:spPr>
          <a:xfrm>
            <a:off x="5638944" y="818739"/>
            <a:ext cx="3399548" cy="3871430"/>
          </a:xfrm>
          <a:prstGeom prst="rect">
            <a:avLst/>
          </a:prstGeom>
          <a:solidFill>
            <a:srgbClr val="F0FAF4"/>
          </a:solidFill>
          <a:ln w="12700">
            <a:solidFill>
              <a:srgbClr val="D8EEE0"/>
            </a:solidFill>
            <a:prstDash val="solid"/>
          </a:ln>
        </p:spPr>
      </p:sp>
      <p:pic>
        <p:nvPicPr>
          <p:cNvPr id="48" name="Picture 47">
            <a:extLst>
              <a:ext uri="{FF2B5EF4-FFF2-40B4-BE49-F238E27FC236}">
                <a16:creationId xmlns:a16="http://schemas.microsoft.com/office/drawing/2014/main" id="{751C38EC-B1CE-2220-E1AE-FD51491EF40A}"/>
              </a:ext>
            </a:extLst>
          </p:cNvPr>
          <p:cNvPicPr>
            <a:picLocks noChangeAspect="1"/>
          </p:cNvPicPr>
          <p:nvPr/>
        </p:nvPicPr>
        <p:blipFill>
          <a:blip r:embed="rId3"/>
          <a:stretch>
            <a:fillRect/>
          </a:stretch>
        </p:blipFill>
        <p:spPr>
          <a:xfrm>
            <a:off x="3141970" y="895408"/>
            <a:ext cx="2257784" cy="1772529"/>
          </a:xfrm>
          <a:prstGeom prst="rect">
            <a:avLst/>
          </a:prstGeom>
        </p:spPr>
      </p:pic>
      <p:pic>
        <p:nvPicPr>
          <p:cNvPr id="50" name="Picture 49">
            <a:extLst>
              <a:ext uri="{FF2B5EF4-FFF2-40B4-BE49-F238E27FC236}">
                <a16:creationId xmlns:a16="http://schemas.microsoft.com/office/drawing/2014/main" id="{715B8EC5-DAA3-7F1E-1024-CA47868ABB96}"/>
              </a:ext>
            </a:extLst>
          </p:cNvPr>
          <p:cNvPicPr>
            <a:picLocks noChangeAspect="1"/>
          </p:cNvPicPr>
          <p:nvPr/>
        </p:nvPicPr>
        <p:blipFill>
          <a:blip r:embed="rId4"/>
          <a:srcRect r="3417"/>
          <a:stretch>
            <a:fillRect/>
          </a:stretch>
        </p:blipFill>
        <p:spPr>
          <a:xfrm>
            <a:off x="307292" y="921431"/>
            <a:ext cx="2151094" cy="1671418"/>
          </a:xfrm>
          <a:prstGeom prst="rect">
            <a:avLst/>
          </a:prstGeom>
        </p:spPr>
      </p:pic>
      <p:pic>
        <p:nvPicPr>
          <p:cNvPr id="52" name="Picture 51">
            <a:extLst>
              <a:ext uri="{FF2B5EF4-FFF2-40B4-BE49-F238E27FC236}">
                <a16:creationId xmlns:a16="http://schemas.microsoft.com/office/drawing/2014/main" id="{2A4E7C7E-4970-25FC-B5D7-049DE87867C9}"/>
              </a:ext>
            </a:extLst>
          </p:cNvPr>
          <p:cNvPicPr>
            <a:picLocks noChangeAspect="1"/>
          </p:cNvPicPr>
          <p:nvPr/>
        </p:nvPicPr>
        <p:blipFill>
          <a:blip r:embed="rId5"/>
          <a:stretch>
            <a:fillRect/>
          </a:stretch>
        </p:blipFill>
        <p:spPr>
          <a:xfrm>
            <a:off x="5997532" y="890659"/>
            <a:ext cx="2379600" cy="1702190"/>
          </a:xfrm>
          <a:prstGeom prst="rect">
            <a:avLst/>
          </a:prstGeom>
        </p:spPr>
      </p:pic>
      <p:sp>
        <p:nvSpPr>
          <p:cNvPr id="53" name="Rectangle: Rounded Corners 52">
            <a:extLst>
              <a:ext uri="{FF2B5EF4-FFF2-40B4-BE49-F238E27FC236}">
                <a16:creationId xmlns:a16="http://schemas.microsoft.com/office/drawing/2014/main" id="{59433EA2-A50E-A9BF-F377-BD3927A825D4}"/>
              </a:ext>
            </a:extLst>
          </p:cNvPr>
          <p:cNvSpPr/>
          <p:nvPr/>
        </p:nvSpPr>
        <p:spPr>
          <a:xfrm>
            <a:off x="217344" y="2699060"/>
            <a:ext cx="2472397" cy="18834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900" dirty="0">
                <a:latin typeface="Times New Roman" panose="02020603050405020304" pitchFamily="18" charset="0"/>
                <a:cs typeface="Times New Roman" panose="02020603050405020304" pitchFamily="18" charset="0"/>
              </a:rPr>
              <a:t>A single chip combines three-axis accelerometer with three-axis gyroscope (6-axis) sensor. It uses I2C for communication via the address 0x68 (or 0x69 if the AD0 pin is set to true). It features an integrated Digital Motion Processor (DMP) that performs sensor fusion calculations to take the load off of the ESP32 and can provide quaternions directly as output. The IC runs on 3.3V to 5V power supply and can be connected to any of the 3.3V headers on the ESP32.</a:t>
            </a:r>
            <a:endParaRPr lang="en-IN" sz="900" dirty="0">
              <a:latin typeface="Times New Roman" panose="02020603050405020304" pitchFamily="18" charset="0"/>
              <a:cs typeface="Times New Roman" panose="02020603050405020304" pitchFamily="18" charset="0"/>
            </a:endParaRPr>
          </a:p>
        </p:txBody>
      </p:sp>
      <p:sp>
        <p:nvSpPr>
          <p:cNvPr id="54" name="Rectangle: Rounded Corners 53">
            <a:extLst>
              <a:ext uri="{FF2B5EF4-FFF2-40B4-BE49-F238E27FC236}">
                <a16:creationId xmlns:a16="http://schemas.microsoft.com/office/drawing/2014/main" id="{F4CD7B0E-081C-1159-B921-3F6C6EC88896}"/>
              </a:ext>
            </a:extLst>
          </p:cNvPr>
          <p:cNvSpPr/>
          <p:nvPr/>
        </p:nvSpPr>
        <p:spPr>
          <a:xfrm>
            <a:off x="5690382" y="2664769"/>
            <a:ext cx="3289026" cy="201625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900" dirty="0">
                <a:latin typeface="Times New Roman" panose="02020603050405020304" pitchFamily="18" charset="0"/>
                <a:cs typeface="Times New Roman" panose="02020603050405020304" pitchFamily="18" charset="0"/>
              </a:rPr>
              <a:t>When looking for a barometric altitude sensor, the BMP280 and MS5611 are two of the most common options. The BMP280 has a pressure sensing range between 300 and 1100 </a:t>
            </a:r>
            <a:r>
              <a:rPr lang="en-US" sz="900" dirty="0" err="1">
                <a:latin typeface="Times New Roman" panose="02020603050405020304" pitchFamily="18" charset="0"/>
                <a:cs typeface="Times New Roman" panose="02020603050405020304" pitchFamily="18" charset="0"/>
              </a:rPr>
              <a:t>hPa</a:t>
            </a:r>
            <a:r>
              <a:rPr lang="en-US" sz="900" dirty="0">
                <a:latin typeface="Times New Roman" panose="02020603050405020304" pitchFamily="18" charset="0"/>
                <a:cs typeface="Times New Roman" panose="02020603050405020304" pitchFamily="18" charset="0"/>
              </a:rPr>
              <a:t> and an altimetry resolution of approximately giving it a great general use sensor. The MS5611 has a wider range of pressure measurements and its altimetry resolution is significantly better than the BMP280 making it the preferable option for drones and higher precision applications. Both sensors can be connected to an MPU-6050 using I2C or SPI comms and also have a built-in temperature sensor in addition to measuring altitude through the use of the barometric formula. Because both sensors use unique I2C addresses, they can share I2C SDA and SCL lines with an MPU-6050 while all three sensors communicate on the same I2C network.</a:t>
            </a:r>
            <a:endParaRPr lang="en-IN" sz="900" dirty="0">
              <a:latin typeface="Times New Roman" panose="02020603050405020304" pitchFamily="18" charset="0"/>
              <a:cs typeface="Times New Roman" panose="02020603050405020304" pitchFamily="18" charset="0"/>
            </a:endParaRPr>
          </a:p>
        </p:txBody>
      </p:sp>
      <p:sp>
        <p:nvSpPr>
          <p:cNvPr id="55" name="Rectangle: Rounded Corners 54">
            <a:extLst>
              <a:ext uri="{FF2B5EF4-FFF2-40B4-BE49-F238E27FC236}">
                <a16:creationId xmlns:a16="http://schemas.microsoft.com/office/drawing/2014/main" id="{DBC4C778-6C59-D7FE-EF94-C18FBDF4A9A9}"/>
              </a:ext>
            </a:extLst>
          </p:cNvPr>
          <p:cNvSpPr/>
          <p:nvPr/>
        </p:nvSpPr>
        <p:spPr>
          <a:xfrm>
            <a:off x="2967842" y="2762895"/>
            <a:ext cx="2431912" cy="18288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900" dirty="0">
                <a:latin typeface="Times New Roman" panose="02020603050405020304" pitchFamily="18" charset="0"/>
                <a:cs typeface="Times New Roman" panose="02020603050405020304" pitchFamily="18" charset="0"/>
              </a:rPr>
              <a:t>A u-</a:t>
            </a:r>
            <a:r>
              <a:rPr lang="en-US" sz="900" dirty="0" err="1">
                <a:latin typeface="Times New Roman" panose="02020603050405020304" pitchFamily="18" charset="0"/>
                <a:cs typeface="Times New Roman" panose="02020603050405020304" pitchFamily="18" charset="0"/>
              </a:rPr>
              <a:t>blox</a:t>
            </a:r>
            <a:r>
              <a:rPr lang="en-US" sz="900" dirty="0">
                <a:latin typeface="Times New Roman" panose="02020603050405020304" pitchFamily="18" charset="0"/>
                <a:cs typeface="Times New Roman" panose="02020603050405020304" pitchFamily="18" charset="0"/>
              </a:rPr>
              <a:t> GNSS receiver that provides output via NMEA 0183 sentences through the UART serial port with a default baud rate of 9600. It will provide approximately 2.5 m circular error probable (CEP) accuracy when there is an unobstructed view of the sky above. It requires a supply voltage of 3.3 V and a ceramic patch antenna (the antenna is typically soldered to it) oriented in a vertical position to receive signals from satellites to establish a position fix. Cold-start position fixes can take 30 to 60 seconds to establish.</a:t>
            </a:r>
            <a:endParaRPr lang="en-IN"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4686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Design Details</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Text 5"/>
          <p:cNvSpPr/>
          <p:nvPr/>
        </p:nvSpPr>
        <p:spPr>
          <a:xfrm>
            <a:off x="365760" y="713232"/>
            <a:ext cx="8412480" cy="320040"/>
          </a:xfrm>
          <a:prstGeom prst="rect">
            <a:avLst/>
          </a:prstGeom>
          <a:noFill/>
          <a:ln/>
        </p:spPr>
        <p:txBody>
          <a:bodyPr wrap="square" rtlCol="0" anchor="ctr"/>
          <a:lstStyle/>
          <a:p>
            <a:pPr marL="0" indent="0">
              <a:buNone/>
            </a:pPr>
            <a:r>
              <a:rPr lang="en-US" sz="1400" b="1" dirty="0">
                <a:solidFill>
                  <a:srgbClr val="0E7A3A"/>
                </a:solidFill>
                <a:latin typeface="Calibri" pitchFamily="34" charset="0"/>
                <a:ea typeface="Calibri" pitchFamily="34" charset="-122"/>
                <a:cs typeface="Calibri" pitchFamily="34" charset="-120"/>
              </a:rPr>
              <a:t>Market Research &amp; Literature Survey</a:t>
            </a:r>
            <a:endParaRPr lang="en-US" sz="1400" dirty="0"/>
          </a:p>
        </p:txBody>
      </p:sp>
      <p:sp>
        <p:nvSpPr>
          <p:cNvPr id="8" name="Shape 6"/>
          <p:cNvSpPr/>
          <p:nvPr/>
        </p:nvSpPr>
        <p:spPr>
          <a:xfrm>
            <a:off x="365760" y="1078992"/>
            <a:ext cx="8412480" cy="310896"/>
          </a:xfrm>
          <a:prstGeom prst="rect">
            <a:avLst/>
          </a:prstGeom>
          <a:solidFill>
            <a:srgbClr val="F0FAF4"/>
          </a:solidFill>
          <a:ln w="12700">
            <a:solidFill>
              <a:srgbClr val="D8EEE0"/>
            </a:solidFill>
            <a:prstDash val="solid"/>
          </a:ln>
        </p:spPr>
      </p:sp>
      <p:sp>
        <p:nvSpPr>
          <p:cNvPr id="9" name="Text 7"/>
          <p:cNvSpPr/>
          <p:nvPr/>
        </p:nvSpPr>
        <p:spPr>
          <a:xfrm>
            <a:off x="457200" y="1078992"/>
            <a:ext cx="8229600" cy="310896"/>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  India has 300M+ registered two-wheelers; two-wheelers account for ~35% of all road fatalities (MoRTH 2023)</a:t>
            </a:r>
            <a:endParaRPr lang="en-US" sz="1150" dirty="0"/>
          </a:p>
        </p:txBody>
      </p:sp>
      <p:sp>
        <p:nvSpPr>
          <p:cNvPr id="10" name="Shape 8"/>
          <p:cNvSpPr/>
          <p:nvPr/>
        </p:nvSpPr>
        <p:spPr>
          <a:xfrm>
            <a:off x="365760" y="1426464"/>
            <a:ext cx="8412480" cy="310896"/>
          </a:xfrm>
          <a:prstGeom prst="rect">
            <a:avLst/>
          </a:prstGeom>
          <a:solidFill>
            <a:srgbClr val="FFFFFF"/>
          </a:solidFill>
          <a:ln w="12700">
            <a:solidFill>
              <a:srgbClr val="D8EEE0"/>
            </a:solidFill>
            <a:prstDash val="solid"/>
          </a:ln>
        </p:spPr>
      </p:sp>
      <p:sp>
        <p:nvSpPr>
          <p:cNvPr id="11" name="Text 9"/>
          <p:cNvSpPr/>
          <p:nvPr/>
        </p:nvSpPr>
        <p:spPr>
          <a:xfrm>
            <a:off x="457200" y="1426464"/>
            <a:ext cx="8229600" cy="310896"/>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  Existing OBD-based systems (Mfine, Acko, Bajaj Allianz) work only for 4-wheelers; no affordable two-wheeler solution exists</a:t>
            </a:r>
            <a:endParaRPr lang="en-US" sz="1150" dirty="0"/>
          </a:p>
        </p:txBody>
      </p:sp>
      <p:sp>
        <p:nvSpPr>
          <p:cNvPr id="12" name="Shape 10"/>
          <p:cNvSpPr/>
          <p:nvPr/>
        </p:nvSpPr>
        <p:spPr>
          <a:xfrm>
            <a:off x="365760" y="1773936"/>
            <a:ext cx="8412480" cy="310896"/>
          </a:xfrm>
          <a:prstGeom prst="rect">
            <a:avLst/>
          </a:prstGeom>
          <a:solidFill>
            <a:srgbClr val="F0FAF4"/>
          </a:solidFill>
          <a:ln w="12700">
            <a:solidFill>
              <a:srgbClr val="D8EEE0"/>
            </a:solidFill>
            <a:prstDash val="solid"/>
          </a:ln>
        </p:spPr>
      </p:sp>
      <p:sp>
        <p:nvSpPr>
          <p:cNvPr id="13" name="Text 11"/>
          <p:cNvSpPr/>
          <p:nvPr/>
        </p:nvSpPr>
        <p:spPr>
          <a:xfrm>
            <a:off x="457200" y="1773936"/>
            <a:ext cx="8229600" cy="310896"/>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  UBI (Usage-Based Insurance) market projected to reach $28B globally by 2027 — two-wheelers are an untapped segment</a:t>
            </a:r>
            <a:endParaRPr lang="en-US" sz="1150" dirty="0"/>
          </a:p>
        </p:txBody>
      </p:sp>
      <p:sp>
        <p:nvSpPr>
          <p:cNvPr id="14" name="Text 12"/>
          <p:cNvSpPr/>
          <p:nvPr/>
        </p:nvSpPr>
        <p:spPr>
          <a:xfrm>
            <a:off x="365760" y="2157984"/>
            <a:ext cx="8412480" cy="320040"/>
          </a:xfrm>
          <a:prstGeom prst="rect">
            <a:avLst/>
          </a:prstGeom>
          <a:noFill/>
          <a:ln/>
        </p:spPr>
        <p:txBody>
          <a:bodyPr wrap="square" rtlCol="0" anchor="ctr"/>
          <a:lstStyle/>
          <a:p>
            <a:pPr marL="0" indent="0">
              <a:buNone/>
            </a:pPr>
            <a:r>
              <a:rPr lang="en-US" sz="1400" b="1" dirty="0">
                <a:solidFill>
                  <a:srgbClr val="0E7A3A"/>
                </a:solidFill>
                <a:latin typeface="Calibri" pitchFamily="34" charset="0"/>
                <a:ea typeface="Calibri" pitchFamily="34" charset="-122"/>
                <a:cs typeface="Calibri" pitchFamily="34" charset="-120"/>
              </a:rPr>
              <a:t>Working Principle &amp; Scoring Formula</a:t>
            </a:r>
            <a:endParaRPr lang="en-US" sz="1400" dirty="0"/>
          </a:p>
        </p:txBody>
      </p:sp>
      <p:sp>
        <p:nvSpPr>
          <p:cNvPr id="15" name="Shape 13"/>
          <p:cNvSpPr/>
          <p:nvPr/>
        </p:nvSpPr>
        <p:spPr>
          <a:xfrm>
            <a:off x="365760" y="2505456"/>
            <a:ext cx="8412480" cy="502920"/>
          </a:xfrm>
          <a:prstGeom prst="rect">
            <a:avLst/>
          </a:prstGeom>
          <a:solidFill>
            <a:srgbClr val="0E1A14"/>
          </a:solidFill>
          <a:ln w="12700">
            <a:solidFill>
              <a:srgbClr val="1DB954"/>
            </a:solidFill>
            <a:prstDash val="solid"/>
          </a:ln>
        </p:spPr>
      </p:sp>
      <p:sp>
        <p:nvSpPr>
          <p:cNvPr id="16" name="Text 14"/>
          <p:cNvSpPr/>
          <p:nvPr/>
        </p:nvSpPr>
        <p:spPr>
          <a:xfrm>
            <a:off x="457200" y="2505456"/>
            <a:ext cx="8229600" cy="502920"/>
          </a:xfrm>
          <a:prstGeom prst="rect">
            <a:avLst/>
          </a:prstGeom>
          <a:noFill/>
          <a:ln/>
        </p:spPr>
        <p:txBody>
          <a:bodyPr wrap="square" rtlCol="0" anchor="ctr"/>
          <a:lstStyle/>
          <a:p>
            <a:pPr marL="0" indent="0" algn="ctr">
              <a:buNone/>
            </a:pPr>
            <a:r>
              <a:rPr lang="en-US" sz="1200" b="1" dirty="0">
                <a:solidFill>
                  <a:srgbClr val="1DB954"/>
                </a:solidFill>
                <a:latin typeface="Calibri" pitchFamily="34" charset="0"/>
                <a:ea typeface="Calibri" pitchFamily="34" charset="-122"/>
                <a:cs typeface="Calibri" pitchFamily="34" charset="-120"/>
              </a:rPr>
              <a:t>Score = 100 − Σ (penaltyᵢ × weightᵢ)     where jerk J = dA/dt (m/s³)  |  lean angle θ = ∫ gyro_z dt − GPS_heading_correction</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3063240"/>
          <a:ext cx="8412480" cy="1600200"/>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2667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Trigger Threshold</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Weight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Score Penalty</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extLst>
                  <a:ext uri="{0D108BD9-81ED-4DB2-BD59-A6C34878D82A}">
                    <a16:rowId xmlns:a16="http://schemas.microsoft.com/office/drawing/2014/main" val="10000"/>
                  </a:ext>
                </a:extLst>
              </a:tr>
              <a:tr h="266700">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Harsh braking</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J &lt; −15 m/s³</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−10 per event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66700">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Hard acceleration</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J &gt; +12 m/s³</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−8 per event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66700">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Sharp cornering</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θ &gt; 35°</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−10 per event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66700">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Speed limit violation</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&gt;120% of limit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−5 per km</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66700">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Lane stability</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Lateral jerk &gt; 8</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dirty="0">
                          <a:solidFill>
                            <a:srgbClr val="000000"/>
                          </a:solidFill>
                          <a:latin typeface="Calibri" pitchFamily="34" charset="0"/>
                          <a:ea typeface="Calibri" pitchFamily="34" charset="-122"/>
                          <a:cs typeface="Calibri" pitchFamily="34" charset="-120"/>
                        </a:rPr>
                        <a:t>−3 per event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Design Details — Algorithm Logic Flow Diagram</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Text 5"/>
          <p:cNvSpPr/>
          <p:nvPr/>
        </p:nvSpPr>
        <p:spPr>
          <a:xfrm>
            <a:off x="365760" y="685800"/>
            <a:ext cx="8412480" cy="256032"/>
          </a:xfrm>
          <a:prstGeom prst="rect">
            <a:avLst/>
          </a:prstGeom>
          <a:noFill/>
          <a:ln/>
        </p:spPr>
        <p:txBody>
          <a:bodyPr wrap="square"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End-to-end data flow: from raw sensor input to final driving behavior score</a:t>
            </a:r>
            <a:endParaRPr lang="en-US" sz="1100" dirty="0"/>
          </a:p>
        </p:txBody>
      </p:sp>
      <p:sp>
        <p:nvSpPr>
          <p:cNvPr id="8" name="Shape 6"/>
          <p:cNvSpPr/>
          <p:nvPr/>
        </p:nvSpPr>
        <p:spPr>
          <a:xfrm>
            <a:off x="320040" y="1005840"/>
            <a:ext cx="1554480" cy="822960"/>
          </a:xfrm>
          <a:prstGeom prst="rect">
            <a:avLst/>
          </a:prstGeom>
          <a:solidFill>
            <a:srgbClr val="0D6E3D"/>
          </a:solidFill>
          <a:ln w="12700">
            <a:solidFill>
              <a:srgbClr val="1DB954"/>
            </a:solidFill>
            <a:prstDash val="solid"/>
          </a:ln>
        </p:spPr>
      </p:sp>
      <p:sp>
        <p:nvSpPr>
          <p:cNvPr id="9" name="Text 7"/>
          <p:cNvSpPr/>
          <p:nvPr/>
        </p:nvSpPr>
        <p:spPr>
          <a:xfrm>
            <a:off x="320040" y="1024128"/>
            <a:ext cx="15544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IMU</a:t>
            </a:r>
            <a:endParaRPr lang="en-US" sz="1200" dirty="0"/>
          </a:p>
        </p:txBody>
      </p:sp>
      <p:sp>
        <p:nvSpPr>
          <p:cNvPr id="10" name="Text 8"/>
          <p:cNvSpPr/>
          <p:nvPr/>
        </p:nvSpPr>
        <p:spPr>
          <a:xfrm>
            <a:off x="320040" y="1261872"/>
            <a:ext cx="1554480" cy="530352"/>
          </a:xfrm>
          <a:prstGeom prst="rect">
            <a:avLst/>
          </a:prstGeom>
          <a:noFill/>
          <a:ln/>
        </p:spPr>
        <p:txBody>
          <a:bodyPr wrap="square" rtlCol="0" anchor="ctr"/>
          <a:lstStyle/>
          <a:p>
            <a:pPr marL="0" indent="0" algn="ctr">
              <a:buNone/>
            </a:pPr>
            <a:r>
              <a:rPr lang="en-US" sz="850" dirty="0">
                <a:solidFill>
                  <a:srgbClr val="AAFFCC"/>
                </a:solidFill>
                <a:latin typeface="Calibri" pitchFamily="34" charset="0"/>
                <a:ea typeface="Calibri" pitchFamily="34" charset="-122"/>
                <a:cs typeface="Calibri" pitchFamily="34" charset="-120"/>
              </a:rPr>
              <a:t>MPU-6050</a:t>
            </a:r>
            <a:endParaRPr lang="en-US" sz="850" dirty="0"/>
          </a:p>
          <a:p>
            <a:pPr marL="0" indent="0" algn="ctr">
              <a:buNone/>
            </a:pPr>
            <a:r>
              <a:rPr lang="en-US" sz="850" dirty="0">
                <a:solidFill>
                  <a:srgbClr val="AAFFCC"/>
                </a:solidFill>
                <a:latin typeface="Calibri" pitchFamily="34" charset="0"/>
                <a:ea typeface="Calibri" pitchFamily="34" charset="-122"/>
                <a:cs typeface="Calibri" pitchFamily="34" charset="-120"/>
              </a:rPr>
              <a:t>Accel + Gyro</a:t>
            </a:r>
            <a:endParaRPr lang="en-US" sz="850" dirty="0"/>
          </a:p>
          <a:p>
            <a:pPr marL="0" indent="0" algn="ctr">
              <a:buNone/>
            </a:pPr>
            <a:r>
              <a:rPr lang="en-US" sz="850" dirty="0">
                <a:solidFill>
                  <a:srgbClr val="AAFFCC"/>
                </a:solidFill>
                <a:latin typeface="Calibri" pitchFamily="34" charset="0"/>
                <a:ea typeface="Calibri" pitchFamily="34" charset="-122"/>
                <a:cs typeface="Calibri" pitchFamily="34" charset="-120"/>
              </a:rPr>
              <a:t>100 Hz</a:t>
            </a:r>
            <a:endParaRPr lang="en-US" sz="850" dirty="0"/>
          </a:p>
        </p:txBody>
      </p:sp>
      <p:sp>
        <p:nvSpPr>
          <p:cNvPr id="11" name="Shape 9"/>
          <p:cNvSpPr/>
          <p:nvPr/>
        </p:nvSpPr>
        <p:spPr>
          <a:xfrm>
            <a:off x="2148840" y="1005840"/>
            <a:ext cx="1554480" cy="822960"/>
          </a:xfrm>
          <a:prstGeom prst="rect">
            <a:avLst/>
          </a:prstGeom>
          <a:solidFill>
            <a:srgbClr val="0D6E3D"/>
          </a:solidFill>
          <a:ln w="12700">
            <a:solidFill>
              <a:srgbClr val="1DB954"/>
            </a:solidFill>
            <a:prstDash val="solid"/>
          </a:ln>
        </p:spPr>
      </p:sp>
      <p:sp>
        <p:nvSpPr>
          <p:cNvPr id="12" name="Text 10"/>
          <p:cNvSpPr/>
          <p:nvPr/>
        </p:nvSpPr>
        <p:spPr>
          <a:xfrm>
            <a:off x="2148840" y="1024128"/>
            <a:ext cx="15544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GPS</a:t>
            </a:r>
            <a:endParaRPr lang="en-US" sz="1200" dirty="0"/>
          </a:p>
        </p:txBody>
      </p:sp>
      <p:sp>
        <p:nvSpPr>
          <p:cNvPr id="13" name="Text 11"/>
          <p:cNvSpPr/>
          <p:nvPr/>
        </p:nvSpPr>
        <p:spPr>
          <a:xfrm>
            <a:off x="2148840" y="1261872"/>
            <a:ext cx="1554480" cy="530352"/>
          </a:xfrm>
          <a:prstGeom prst="rect">
            <a:avLst/>
          </a:prstGeom>
          <a:noFill/>
          <a:ln/>
        </p:spPr>
        <p:txBody>
          <a:bodyPr wrap="square" rtlCol="0" anchor="ctr"/>
          <a:lstStyle/>
          <a:p>
            <a:pPr marL="0" indent="0" algn="ctr">
              <a:buNone/>
            </a:pPr>
            <a:r>
              <a:rPr lang="en-US" sz="850" dirty="0">
                <a:solidFill>
                  <a:srgbClr val="AAFFCC"/>
                </a:solidFill>
                <a:latin typeface="Calibri" pitchFamily="34" charset="0"/>
                <a:ea typeface="Calibri" pitchFamily="34" charset="-122"/>
                <a:cs typeface="Calibri" pitchFamily="34" charset="-120"/>
              </a:rPr>
              <a:t>NEO-6M</a:t>
            </a:r>
            <a:endParaRPr lang="en-US" sz="850" dirty="0"/>
          </a:p>
          <a:p>
            <a:pPr marL="0" indent="0" algn="ctr">
              <a:buNone/>
            </a:pPr>
            <a:r>
              <a:rPr lang="en-US" sz="850" dirty="0">
                <a:solidFill>
                  <a:srgbClr val="AAFFCC"/>
                </a:solidFill>
                <a:latin typeface="Calibri" pitchFamily="34" charset="0"/>
                <a:ea typeface="Calibri" pitchFamily="34" charset="-122"/>
                <a:cs typeface="Calibri" pitchFamily="34" charset="-120"/>
              </a:rPr>
              <a:t>Speed + Heading</a:t>
            </a:r>
            <a:endParaRPr lang="en-US" sz="850" dirty="0"/>
          </a:p>
          <a:p>
            <a:pPr marL="0" indent="0" algn="ctr">
              <a:buNone/>
            </a:pPr>
            <a:r>
              <a:rPr lang="en-US" sz="850" dirty="0">
                <a:solidFill>
                  <a:srgbClr val="AAFFCC"/>
                </a:solidFill>
                <a:latin typeface="Calibri" pitchFamily="34" charset="0"/>
                <a:ea typeface="Calibri" pitchFamily="34" charset="-122"/>
                <a:cs typeface="Calibri" pitchFamily="34" charset="-120"/>
              </a:rPr>
              <a:t>10 Hz</a:t>
            </a:r>
            <a:endParaRPr lang="en-US" sz="850" dirty="0"/>
          </a:p>
        </p:txBody>
      </p:sp>
      <p:sp>
        <p:nvSpPr>
          <p:cNvPr id="14" name="Shape 12"/>
          <p:cNvSpPr/>
          <p:nvPr/>
        </p:nvSpPr>
        <p:spPr>
          <a:xfrm>
            <a:off x="3977640" y="1005840"/>
            <a:ext cx="1554480" cy="822960"/>
          </a:xfrm>
          <a:prstGeom prst="rect">
            <a:avLst/>
          </a:prstGeom>
          <a:solidFill>
            <a:srgbClr val="0D6E3D"/>
          </a:solidFill>
          <a:ln w="12700">
            <a:solidFill>
              <a:srgbClr val="1DB954"/>
            </a:solidFill>
            <a:prstDash val="solid"/>
          </a:ln>
        </p:spPr>
      </p:sp>
      <p:sp>
        <p:nvSpPr>
          <p:cNvPr id="15" name="Text 13"/>
          <p:cNvSpPr/>
          <p:nvPr/>
        </p:nvSpPr>
        <p:spPr>
          <a:xfrm>
            <a:off x="3977640" y="1024128"/>
            <a:ext cx="15544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Baro</a:t>
            </a:r>
            <a:endParaRPr lang="en-US" sz="1200" dirty="0"/>
          </a:p>
        </p:txBody>
      </p:sp>
      <p:sp>
        <p:nvSpPr>
          <p:cNvPr id="16" name="Text 14"/>
          <p:cNvSpPr/>
          <p:nvPr/>
        </p:nvSpPr>
        <p:spPr>
          <a:xfrm>
            <a:off x="3977640" y="1261872"/>
            <a:ext cx="1554480" cy="530352"/>
          </a:xfrm>
          <a:prstGeom prst="rect">
            <a:avLst/>
          </a:prstGeom>
          <a:noFill/>
          <a:ln/>
        </p:spPr>
        <p:txBody>
          <a:bodyPr wrap="square" rtlCol="0" anchor="ctr"/>
          <a:lstStyle/>
          <a:p>
            <a:pPr marL="0" indent="0" algn="ctr">
              <a:buNone/>
            </a:pPr>
            <a:r>
              <a:rPr lang="en-US" sz="850" dirty="0">
                <a:solidFill>
                  <a:srgbClr val="AAFFCC"/>
                </a:solidFill>
                <a:latin typeface="Calibri" pitchFamily="34" charset="0"/>
                <a:ea typeface="Calibri" pitchFamily="34" charset="-122"/>
                <a:cs typeface="Calibri" pitchFamily="34" charset="-120"/>
              </a:rPr>
              <a:t>BMP280</a:t>
            </a:r>
            <a:endParaRPr lang="en-US" sz="850" dirty="0"/>
          </a:p>
          <a:p>
            <a:pPr marL="0" indent="0" algn="ctr">
              <a:buNone/>
            </a:pPr>
            <a:r>
              <a:rPr lang="en-US" sz="850" dirty="0">
                <a:solidFill>
                  <a:srgbClr val="AAFFCC"/>
                </a:solidFill>
                <a:latin typeface="Calibri" pitchFamily="34" charset="0"/>
                <a:ea typeface="Calibri" pitchFamily="34" charset="-122"/>
                <a:cs typeface="Calibri" pitchFamily="34" charset="-120"/>
              </a:rPr>
              <a:t>Altitude + Incline</a:t>
            </a:r>
            <a:endParaRPr lang="en-US" sz="850" dirty="0"/>
          </a:p>
          <a:p>
            <a:pPr marL="0" indent="0" algn="ctr">
              <a:buNone/>
            </a:pPr>
            <a:r>
              <a:rPr lang="en-US" sz="850" dirty="0">
                <a:solidFill>
                  <a:srgbClr val="AAFFCC"/>
                </a:solidFill>
                <a:latin typeface="Calibri" pitchFamily="34" charset="0"/>
                <a:ea typeface="Calibri" pitchFamily="34" charset="-122"/>
                <a:cs typeface="Calibri" pitchFamily="34" charset="-120"/>
              </a:rPr>
              <a:t>25 Hz</a:t>
            </a:r>
            <a:endParaRPr lang="en-US" sz="850" dirty="0"/>
          </a:p>
        </p:txBody>
      </p:sp>
      <p:sp>
        <p:nvSpPr>
          <p:cNvPr id="17" name="Shape 15"/>
          <p:cNvSpPr/>
          <p:nvPr/>
        </p:nvSpPr>
        <p:spPr>
          <a:xfrm>
            <a:off x="1097280" y="1810512"/>
            <a:ext cx="0" cy="292608"/>
          </a:xfrm>
          <a:prstGeom prst="line">
            <a:avLst/>
          </a:prstGeom>
          <a:noFill/>
          <a:ln w="19050">
            <a:solidFill>
              <a:srgbClr val="1DB954"/>
            </a:solidFill>
            <a:prstDash val="solid"/>
          </a:ln>
        </p:spPr>
      </p:sp>
      <p:sp>
        <p:nvSpPr>
          <p:cNvPr id="18" name="Shape 16"/>
          <p:cNvSpPr/>
          <p:nvPr/>
        </p:nvSpPr>
        <p:spPr>
          <a:xfrm>
            <a:off x="2926080" y="1810512"/>
            <a:ext cx="0" cy="292608"/>
          </a:xfrm>
          <a:prstGeom prst="line">
            <a:avLst/>
          </a:prstGeom>
          <a:noFill/>
          <a:ln w="19050">
            <a:solidFill>
              <a:srgbClr val="1DB954"/>
            </a:solidFill>
            <a:prstDash val="solid"/>
          </a:ln>
        </p:spPr>
      </p:sp>
      <p:sp>
        <p:nvSpPr>
          <p:cNvPr id="19" name="Shape 17"/>
          <p:cNvSpPr/>
          <p:nvPr/>
        </p:nvSpPr>
        <p:spPr>
          <a:xfrm>
            <a:off x="4754880" y="1810512"/>
            <a:ext cx="0" cy="292608"/>
          </a:xfrm>
          <a:prstGeom prst="line">
            <a:avLst/>
          </a:prstGeom>
          <a:noFill/>
          <a:ln w="19050">
            <a:solidFill>
              <a:srgbClr val="1DB954"/>
            </a:solidFill>
            <a:prstDash val="solid"/>
          </a:ln>
        </p:spPr>
      </p:sp>
      <p:sp>
        <p:nvSpPr>
          <p:cNvPr id="20" name="Shape 18"/>
          <p:cNvSpPr/>
          <p:nvPr/>
        </p:nvSpPr>
        <p:spPr>
          <a:xfrm>
            <a:off x="320040" y="2103120"/>
            <a:ext cx="5212080" cy="566928"/>
          </a:xfrm>
          <a:prstGeom prst="rect">
            <a:avLst/>
          </a:prstGeom>
          <a:solidFill>
            <a:srgbClr val="084D2E"/>
          </a:solidFill>
          <a:ln w="12700">
            <a:solidFill>
              <a:srgbClr val="1DB954"/>
            </a:solidFill>
            <a:prstDash val="solid"/>
          </a:ln>
        </p:spPr>
      </p:sp>
      <p:sp>
        <p:nvSpPr>
          <p:cNvPr id="21" name="Text 19"/>
          <p:cNvSpPr/>
          <p:nvPr/>
        </p:nvSpPr>
        <p:spPr>
          <a:xfrm>
            <a:off x="320040" y="2103120"/>
            <a:ext cx="5212080" cy="256032"/>
          </a:xfrm>
          <a:prstGeom prst="rect">
            <a:avLst/>
          </a:prstGeom>
          <a:noFill/>
          <a:ln/>
        </p:spPr>
        <p:txBody>
          <a:bodyPr wrap="square" rtlCol="0" anchor="ctr"/>
          <a:lstStyle/>
          <a:p>
            <a:pPr marL="0" indent="0" algn="ctr">
              <a:buNone/>
            </a:pPr>
            <a:r>
              <a:rPr lang="en-US" sz="1200" b="1" dirty="0">
                <a:solidFill>
                  <a:srgbClr val="1DB954"/>
                </a:solidFill>
                <a:latin typeface="Calibri" pitchFamily="34" charset="0"/>
                <a:ea typeface="Calibri" pitchFamily="34" charset="-122"/>
                <a:cs typeface="Calibri" pitchFamily="34" charset="-120"/>
              </a:rPr>
              <a:t>Kalman Filter — Sensor Fusion</a:t>
            </a:r>
            <a:endParaRPr lang="en-US" sz="1200" dirty="0"/>
          </a:p>
        </p:txBody>
      </p:sp>
      <p:sp>
        <p:nvSpPr>
          <p:cNvPr id="22" name="Text 20"/>
          <p:cNvSpPr/>
          <p:nvPr/>
        </p:nvSpPr>
        <p:spPr>
          <a:xfrm>
            <a:off x="320040" y="2322576"/>
            <a:ext cx="5212080" cy="274320"/>
          </a:xfrm>
          <a:prstGeom prst="rect">
            <a:avLst/>
          </a:prstGeom>
          <a:noFill/>
          <a:ln/>
        </p:spPr>
        <p:txBody>
          <a:bodyPr wrap="square" rtlCol="0" anchor="ctr"/>
          <a:lstStyle/>
          <a:p>
            <a:pPr marL="0" indent="0" algn="ctr">
              <a:buNone/>
            </a:pPr>
            <a:r>
              <a:rPr lang="en-US" sz="900" dirty="0">
                <a:solidFill>
                  <a:srgbClr val="CCFFDD"/>
                </a:solidFill>
                <a:latin typeface="Calibri" pitchFamily="34" charset="0"/>
                <a:ea typeface="Calibri" pitchFamily="34" charset="-122"/>
                <a:cs typeface="Calibri" pitchFamily="34" charset="-120"/>
              </a:rPr>
              <a:t>Merges IMU + GPS to estimate: velocity, lean angle θ, jerk J = dA/dt  |  removes noise &amp; GPS lag</a:t>
            </a:r>
            <a:endParaRPr lang="en-US" sz="900" dirty="0"/>
          </a:p>
        </p:txBody>
      </p:sp>
      <p:sp>
        <p:nvSpPr>
          <p:cNvPr id="23" name="Shape 21"/>
          <p:cNvSpPr/>
          <p:nvPr/>
        </p:nvSpPr>
        <p:spPr>
          <a:xfrm>
            <a:off x="2926080" y="2670048"/>
            <a:ext cx="0" cy="256032"/>
          </a:xfrm>
          <a:prstGeom prst="line">
            <a:avLst/>
          </a:prstGeom>
          <a:noFill/>
          <a:ln w="19050">
            <a:solidFill>
              <a:srgbClr val="1DB954"/>
            </a:solidFill>
            <a:prstDash val="solid"/>
          </a:ln>
        </p:spPr>
      </p:sp>
      <p:sp>
        <p:nvSpPr>
          <p:cNvPr id="24" name="Shape 22"/>
          <p:cNvSpPr/>
          <p:nvPr/>
        </p:nvSpPr>
        <p:spPr>
          <a:xfrm>
            <a:off x="320040" y="2926080"/>
            <a:ext cx="1600200" cy="658368"/>
          </a:xfrm>
          <a:prstGeom prst="rect">
            <a:avLst/>
          </a:prstGeom>
          <a:solidFill>
            <a:srgbClr val="CC4400"/>
          </a:solidFill>
          <a:ln w="12700">
            <a:solidFill>
              <a:srgbClr val="FFAA55"/>
            </a:solidFill>
            <a:prstDash val="solid"/>
          </a:ln>
        </p:spPr>
      </p:sp>
      <p:sp>
        <p:nvSpPr>
          <p:cNvPr id="25" name="Text 23"/>
          <p:cNvSpPr/>
          <p:nvPr/>
        </p:nvSpPr>
        <p:spPr>
          <a:xfrm>
            <a:off x="320040" y="2944368"/>
            <a:ext cx="16002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Brake detect</a:t>
            </a:r>
            <a:endParaRPr lang="en-US" sz="1000" dirty="0"/>
          </a:p>
        </p:txBody>
      </p:sp>
      <p:sp>
        <p:nvSpPr>
          <p:cNvPr id="26" name="Text 24"/>
          <p:cNvSpPr/>
          <p:nvPr/>
        </p:nvSpPr>
        <p:spPr>
          <a:xfrm>
            <a:off x="320040" y="3163824"/>
            <a:ext cx="1600200" cy="384048"/>
          </a:xfrm>
          <a:prstGeom prst="rect">
            <a:avLst/>
          </a:prstGeom>
          <a:noFill/>
          <a:ln/>
        </p:spPr>
        <p:txBody>
          <a:bodyPr wrap="square" rtlCol="0" anchor="ctr"/>
          <a:lstStyle/>
          <a:p>
            <a:pPr marL="0" indent="0" algn="ctr">
              <a:buNone/>
            </a:pPr>
            <a:r>
              <a:rPr lang="en-US" sz="800" dirty="0">
                <a:solidFill>
                  <a:srgbClr val="FFE0BB"/>
                </a:solidFill>
                <a:latin typeface="Calibri" pitchFamily="34" charset="0"/>
                <a:ea typeface="Calibri" pitchFamily="34" charset="-122"/>
                <a:cs typeface="Calibri" pitchFamily="34" charset="-120"/>
              </a:rPr>
              <a:t>J &lt; −15 m/s³</a:t>
            </a:r>
            <a:endParaRPr lang="en-US" sz="800" dirty="0"/>
          </a:p>
          <a:p>
            <a:pPr marL="0" indent="0" algn="ctr">
              <a:buNone/>
            </a:pPr>
            <a:r>
              <a:rPr lang="en-US" sz="800" dirty="0">
                <a:solidFill>
                  <a:srgbClr val="FFE0BB"/>
                </a:solidFill>
                <a:latin typeface="Calibri" pitchFamily="34" charset="0"/>
                <a:ea typeface="Calibri" pitchFamily="34" charset="-122"/>
                <a:cs typeface="Calibri" pitchFamily="34" charset="-120"/>
              </a:rPr>
              <a:t>→ HarshBrake event</a:t>
            </a:r>
            <a:endParaRPr lang="en-US" sz="800" dirty="0"/>
          </a:p>
        </p:txBody>
      </p:sp>
      <p:sp>
        <p:nvSpPr>
          <p:cNvPr id="27" name="Shape 25"/>
          <p:cNvSpPr/>
          <p:nvPr/>
        </p:nvSpPr>
        <p:spPr>
          <a:xfrm>
            <a:off x="2103120" y="2926080"/>
            <a:ext cx="1600200" cy="658368"/>
          </a:xfrm>
          <a:prstGeom prst="rect">
            <a:avLst/>
          </a:prstGeom>
          <a:solidFill>
            <a:srgbClr val="BB5500"/>
          </a:solidFill>
          <a:ln w="12700">
            <a:solidFill>
              <a:srgbClr val="FFAA55"/>
            </a:solidFill>
            <a:prstDash val="solid"/>
          </a:ln>
        </p:spPr>
      </p:sp>
      <p:sp>
        <p:nvSpPr>
          <p:cNvPr id="28" name="Text 26"/>
          <p:cNvSpPr/>
          <p:nvPr/>
        </p:nvSpPr>
        <p:spPr>
          <a:xfrm>
            <a:off x="2103120" y="2944368"/>
            <a:ext cx="16002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Corner detect</a:t>
            </a:r>
            <a:endParaRPr lang="en-US" sz="1000" dirty="0"/>
          </a:p>
        </p:txBody>
      </p:sp>
      <p:sp>
        <p:nvSpPr>
          <p:cNvPr id="29" name="Text 27"/>
          <p:cNvSpPr/>
          <p:nvPr/>
        </p:nvSpPr>
        <p:spPr>
          <a:xfrm>
            <a:off x="2103120" y="3163824"/>
            <a:ext cx="1600200" cy="384048"/>
          </a:xfrm>
          <a:prstGeom prst="rect">
            <a:avLst/>
          </a:prstGeom>
          <a:noFill/>
          <a:ln/>
        </p:spPr>
        <p:txBody>
          <a:bodyPr wrap="square" rtlCol="0" anchor="ctr"/>
          <a:lstStyle/>
          <a:p>
            <a:pPr marL="0" indent="0" algn="ctr">
              <a:buNone/>
            </a:pPr>
            <a:r>
              <a:rPr lang="en-US" sz="800" dirty="0">
                <a:solidFill>
                  <a:srgbClr val="FFE0BB"/>
                </a:solidFill>
                <a:latin typeface="Calibri" pitchFamily="34" charset="0"/>
                <a:ea typeface="Calibri" pitchFamily="34" charset="-122"/>
                <a:cs typeface="Calibri" pitchFamily="34" charset="-120"/>
              </a:rPr>
              <a:t>θ &gt; 35°</a:t>
            </a:r>
            <a:endParaRPr lang="en-US" sz="800" dirty="0"/>
          </a:p>
          <a:p>
            <a:pPr marL="0" indent="0" algn="ctr">
              <a:buNone/>
            </a:pPr>
            <a:r>
              <a:rPr lang="en-US" sz="800" dirty="0">
                <a:solidFill>
                  <a:srgbClr val="FFE0BB"/>
                </a:solidFill>
                <a:latin typeface="Calibri" pitchFamily="34" charset="0"/>
                <a:ea typeface="Calibri" pitchFamily="34" charset="-122"/>
                <a:cs typeface="Calibri" pitchFamily="34" charset="-120"/>
              </a:rPr>
              <a:t>→ SharpCorner event</a:t>
            </a:r>
            <a:endParaRPr lang="en-US" sz="800" dirty="0"/>
          </a:p>
        </p:txBody>
      </p:sp>
      <p:sp>
        <p:nvSpPr>
          <p:cNvPr id="30" name="Shape 28"/>
          <p:cNvSpPr/>
          <p:nvPr/>
        </p:nvSpPr>
        <p:spPr>
          <a:xfrm>
            <a:off x="3886200" y="2926080"/>
            <a:ext cx="1600200" cy="658368"/>
          </a:xfrm>
          <a:prstGeom prst="rect">
            <a:avLst/>
          </a:prstGeom>
          <a:solidFill>
            <a:srgbClr val="AA6600"/>
          </a:solidFill>
          <a:ln w="12700">
            <a:solidFill>
              <a:srgbClr val="FFAA55"/>
            </a:solidFill>
            <a:prstDash val="solid"/>
          </a:ln>
        </p:spPr>
      </p:sp>
      <p:sp>
        <p:nvSpPr>
          <p:cNvPr id="31" name="Text 29"/>
          <p:cNvSpPr/>
          <p:nvPr/>
        </p:nvSpPr>
        <p:spPr>
          <a:xfrm>
            <a:off x="3886200" y="2944368"/>
            <a:ext cx="16002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Accel detect</a:t>
            </a:r>
            <a:endParaRPr lang="en-US" sz="1000" dirty="0"/>
          </a:p>
        </p:txBody>
      </p:sp>
      <p:sp>
        <p:nvSpPr>
          <p:cNvPr id="32" name="Text 30"/>
          <p:cNvSpPr/>
          <p:nvPr/>
        </p:nvSpPr>
        <p:spPr>
          <a:xfrm>
            <a:off x="3886200" y="3163824"/>
            <a:ext cx="1600200" cy="384048"/>
          </a:xfrm>
          <a:prstGeom prst="rect">
            <a:avLst/>
          </a:prstGeom>
          <a:noFill/>
          <a:ln/>
        </p:spPr>
        <p:txBody>
          <a:bodyPr wrap="square" rtlCol="0" anchor="ctr"/>
          <a:lstStyle/>
          <a:p>
            <a:pPr marL="0" indent="0" algn="ctr">
              <a:buNone/>
            </a:pPr>
            <a:r>
              <a:rPr lang="en-US" sz="800" dirty="0">
                <a:solidFill>
                  <a:srgbClr val="FFE0BB"/>
                </a:solidFill>
                <a:latin typeface="Calibri" pitchFamily="34" charset="0"/>
                <a:ea typeface="Calibri" pitchFamily="34" charset="-122"/>
                <a:cs typeface="Calibri" pitchFamily="34" charset="-120"/>
              </a:rPr>
              <a:t>J &gt; +12 m/s³</a:t>
            </a:r>
            <a:endParaRPr lang="en-US" sz="800" dirty="0"/>
          </a:p>
          <a:p>
            <a:pPr marL="0" indent="0" algn="ctr">
              <a:buNone/>
            </a:pPr>
            <a:r>
              <a:rPr lang="en-US" sz="800" dirty="0">
                <a:solidFill>
                  <a:srgbClr val="FFE0BB"/>
                </a:solidFill>
                <a:latin typeface="Calibri" pitchFamily="34" charset="0"/>
                <a:ea typeface="Calibri" pitchFamily="34" charset="-122"/>
                <a:cs typeface="Calibri" pitchFamily="34" charset="-120"/>
              </a:rPr>
              <a:t>→ HardAccel event</a:t>
            </a:r>
            <a:endParaRPr lang="en-US" sz="800" dirty="0"/>
          </a:p>
        </p:txBody>
      </p:sp>
      <p:sp>
        <p:nvSpPr>
          <p:cNvPr id="33" name="Shape 31"/>
          <p:cNvSpPr/>
          <p:nvPr/>
        </p:nvSpPr>
        <p:spPr>
          <a:xfrm>
            <a:off x="5715000" y="2926080"/>
            <a:ext cx="1828800" cy="658368"/>
          </a:xfrm>
          <a:prstGeom prst="rect">
            <a:avLst/>
          </a:prstGeom>
          <a:solidFill>
            <a:srgbClr val="1A3A6A"/>
          </a:solidFill>
          <a:ln w="12700">
            <a:solidFill>
              <a:srgbClr val="5599FF"/>
            </a:solidFill>
            <a:prstDash val="solid"/>
          </a:ln>
        </p:spPr>
      </p:sp>
      <p:sp>
        <p:nvSpPr>
          <p:cNvPr id="34" name="Text 32"/>
          <p:cNvSpPr/>
          <p:nvPr/>
        </p:nvSpPr>
        <p:spPr>
          <a:xfrm>
            <a:off x="5715000" y="2944368"/>
            <a:ext cx="1828800" cy="256032"/>
          </a:xfrm>
          <a:prstGeom prst="rect">
            <a:avLst/>
          </a:prstGeom>
          <a:noFill/>
          <a:ln/>
        </p:spPr>
        <p:txBody>
          <a:bodyPr wrap="square" rtlCol="0" anchor="ctr"/>
          <a:lstStyle/>
          <a:p>
            <a:pPr marL="0" indent="0" algn="ctr">
              <a:buNone/>
            </a:pPr>
            <a:r>
              <a:rPr lang="en-US" sz="1000" b="1" dirty="0">
                <a:solidFill>
                  <a:srgbClr val="AACCFF"/>
                </a:solidFill>
                <a:latin typeface="Calibri" pitchFamily="34" charset="0"/>
                <a:ea typeface="Calibri" pitchFamily="34" charset="-122"/>
                <a:cs typeface="Calibri" pitchFamily="34" charset="-120"/>
              </a:rPr>
              <a:t>Context Engine</a:t>
            </a:r>
            <a:endParaRPr lang="en-US" sz="1000" dirty="0"/>
          </a:p>
        </p:txBody>
      </p:sp>
      <p:sp>
        <p:nvSpPr>
          <p:cNvPr id="35" name="Text 33"/>
          <p:cNvSpPr/>
          <p:nvPr/>
        </p:nvSpPr>
        <p:spPr>
          <a:xfrm>
            <a:off x="5715000" y="3163824"/>
            <a:ext cx="1828800" cy="384048"/>
          </a:xfrm>
          <a:prstGeom prst="rect">
            <a:avLst/>
          </a:prstGeom>
          <a:noFill/>
          <a:ln/>
        </p:spPr>
        <p:txBody>
          <a:bodyPr wrap="square" rtlCol="0" anchor="ctr"/>
          <a:lstStyle/>
          <a:p>
            <a:pPr marL="0" indent="0" algn="ctr">
              <a:buNone/>
            </a:pPr>
            <a:r>
              <a:rPr lang="en-US" sz="800" dirty="0">
                <a:solidFill>
                  <a:srgbClr val="CCE0FF"/>
                </a:solidFill>
                <a:latin typeface="Calibri" pitchFamily="34" charset="0"/>
                <a:ea typeface="Calibri" pitchFamily="34" charset="-122"/>
                <a:cs typeface="Calibri" pitchFamily="34" charset="-120"/>
              </a:rPr>
              <a:t>OSM road class</a:t>
            </a:r>
            <a:endParaRPr lang="en-US" sz="800" dirty="0"/>
          </a:p>
          <a:p>
            <a:pPr marL="0" indent="0" algn="ctr">
              <a:buNone/>
            </a:pPr>
            <a:r>
              <a:rPr lang="en-US" sz="800" dirty="0">
                <a:solidFill>
                  <a:srgbClr val="CCE0FF"/>
                </a:solidFill>
                <a:latin typeface="Calibri" pitchFamily="34" charset="0"/>
                <a:ea typeface="Calibri" pitchFamily="34" charset="-122"/>
                <a:cs typeface="Calibri" pitchFamily="34" charset="-120"/>
              </a:rPr>
              <a:t>Speed zone tag</a:t>
            </a:r>
            <a:endParaRPr lang="en-US" sz="800" dirty="0"/>
          </a:p>
          <a:p>
            <a:pPr marL="0" indent="0" algn="ctr">
              <a:buNone/>
            </a:pPr>
            <a:r>
              <a:rPr lang="en-US" sz="800" dirty="0">
                <a:solidFill>
                  <a:srgbClr val="CCE0FF"/>
                </a:solidFill>
                <a:latin typeface="Calibri" pitchFamily="34" charset="0"/>
                <a:ea typeface="Calibri" pitchFamily="34" charset="-122"/>
                <a:cs typeface="Calibri" pitchFamily="34" charset="-120"/>
              </a:rPr>
              <a:t>Time of day</a:t>
            </a:r>
            <a:endParaRPr lang="en-US" sz="800" dirty="0"/>
          </a:p>
        </p:txBody>
      </p:sp>
      <p:sp>
        <p:nvSpPr>
          <p:cNvPr id="36" name="Shape 34"/>
          <p:cNvSpPr/>
          <p:nvPr/>
        </p:nvSpPr>
        <p:spPr>
          <a:xfrm flipV="1">
            <a:off x="5532120" y="2377440"/>
            <a:ext cx="1097280" cy="9144"/>
          </a:xfrm>
          <a:prstGeom prst="line">
            <a:avLst/>
          </a:prstGeom>
          <a:noFill/>
          <a:ln w="19050">
            <a:solidFill>
              <a:srgbClr val="5599FF"/>
            </a:solidFill>
            <a:prstDash val="solid"/>
          </a:ln>
        </p:spPr>
      </p:sp>
      <p:sp>
        <p:nvSpPr>
          <p:cNvPr id="37" name="Shape 35"/>
          <p:cNvSpPr/>
          <p:nvPr/>
        </p:nvSpPr>
        <p:spPr>
          <a:xfrm>
            <a:off x="6629400" y="2386584"/>
            <a:ext cx="0" cy="539496"/>
          </a:xfrm>
          <a:prstGeom prst="line">
            <a:avLst/>
          </a:prstGeom>
          <a:noFill/>
          <a:ln w="19050">
            <a:solidFill>
              <a:srgbClr val="5599FF"/>
            </a:solidFill>
            <a:prstDash val="solid"/>
          </a:ln>
        </p:spPr>
      </p:sp>
      <p:sp>
        <p:nvSpPr>
          <p:cNvPr id="38" name="Shape 36"/>
          <p:cNvSpPr/>
          <p:nvPr/>
        </p:nvSpPr>
        <p:spPr>
          <a:xfrm>
            <a:off x="1115568" y="3584448"/>
            <a:ext cx="0" cy="256032"/>
          </a:xfrm>
          <a:prstGeom prst="line">
            <a:avLst/>
          </a:prstGeom>
          <a:noFill/>
          <a:ln w="19050">
            <a:solidFill>
              <a:srgbClr val="1DB954"/>
            </a:solidFill>
            <a:prstDash val="solid"/>
          </a:ln>
        </p:spPr>
      </p:sp>
      <p:sp>
        <p:nvSpPr>
          <p:cNvPr id="39" name="Shape 37"/>
          <p:cNvSpPr/>
          <p:nvPr/>
        </p:nvSpPr>
        <p:spPr>
          <a:xfrm>
            <a:off x="2898648" y="3584448"/>
            <a:ext cx="0" cy="256032"/>
          </a:xfrm>
          <a:prstGeom prst="line">
            <a:avLst/>
          </a:prstGeom>
          <a:noFill/>
          <a:ln w="19050">
            <a:solidFill>
              <a:srgbClr val="1DB954"/>
            </a:solidFill>
            <a:prstDash val="solid"/>
          </a:ln>
        </p:spPr>
      </p:sp>
      <p:sp>
        <p:nvSpPr>
          <p:cNvPr id="40" name="Shape 38"/>
          <p:cNvSpPr/>
          <p:nvPr/>
        </p:nvSpPr>
        <p:spPr>
          <a:xfrm>
            <a:off x="4681728" y="3584448"/>
            <a:ext cx="0" cy="256032"/>
          </a:xfrm>
          <a:prstGeom prst="line">
            <a:avLst/>
          </a:prstGeom>
          <a:noFill/>
          <a:ln w="19050">
            <a:solidFill>
              <a:srgbClr val="1DB954"/>
            </a:solidFill>
            <a:prstDash val="solid"/>
          </a:ln>
        </p:spPr>
      </p:sp>
      <p:sp>
        <p:nvSpPr>
          <p:cNvPr id="41" name="Shape 39"/>
          <p:cNvSpPr/>
          <p:nvPr/>
        </p:nvSpPr>
        <p:spPr>
          <a:xfrm>
            <a:off x="6629400" y="3584448"/>
            <a:ext cx="0" cy="256032"/>
          </a:xfrm>
          <a:prstGeom prst="line">
            <a:avLst/>
          </a:prstGeom>
          <a:noFill/>
          <a:ln w="19050">
            <a:solidFill>
              <a:srgbClr val="5599FF"/>
            </a:solidFill>
            <a:prstDash val="solid"/>
          </a:ln>
        </p:spPr>
      </p:sp>
      <p:sp>
        <p:nvSpPr>
          <p:cNvPr id="42" name="Shape 40"/>
          <p:cNvSpPr/>
          <p:nvPr/>
        </p:nvSpPr>
        <p:spPr>
          <a:xfrm>
            <a:off x="320040" y="3840480"/>
            <a:ext cx="8229600" cy="566928"/>
          </a:xfrm>
          <a:prstGeom prst="rect">
            <a:avLst/>
          </a:prstGeom>
          <a:solidFill>
            <a:srgbClr val="1A1A1A"/>
          </a:solidFill>
          <a:ln w="12700">
            <a:solidFill>
              <a:srgbClr val="1DB954"/>
            </a:solidFill>
            <a:prstDash val="solid"/>
          </a:ln>
        </p:spPr>
      </p:sp>
      <p:sp>
        <p:nvSpPr>
          <p:cNvPr id="43" name="Text 41"/>
          <p:cNvSpPr/>
          <p:nvPr/>
        </p:nvSpPr>
        <p:spPr>
          <a:xfrm>
            <a:off x="320040" y="3840480"/>
            <a:ext cx="4114800" cy="256032"/>
          </a:xfrm>
          <a:prstGeom prst="rect">
            <a:avLst/>
          </a:prstGeom>
          <a:noFill/>
          <a:ln/>
        </p:spPr>
        <p:txBody>
          <a:bodyPr wrap="square" rtlCol="0" anchor="ctr"/>
          <a:lstStyle/>
          <a:p>
            <a:pPr marL="0" indent="0" algn="ctr">
              <a:buNone/>
            </a:pPr>
            <a:r>
              <a:rPr lang="en-US" sz="1200" b="1" dirty="0">
                <a:solidFill>
                  <a:srgbClr val="1DB954"/>
                </a:solidFill>
                <a:latin typeface="Calibri" pitchFamily="34" charset="0"/>
                <a:ea typeface="Calibri" pitchFamily="34" charset="-122"/>
                <a:cs typeface="Calibri" pitchFamily="34" charset="-120"/>
              </a:rPr>
              <a:t>Weighted Scoring Engine</a:t>
            </a:r>
            <a:endParaRPr lang="en-US" sz="1200" dirty="0"/>
          </a:p>
        </p:txBody>
      </p:sp>
      <p:sp>
        <p:nvSpPr>
          <p:cNvPr id="44" name="Text 42"/>
          <p:cNvSpPr/>
          <p:nvPr/>
        </p:nvSpPr>
        <p:spPr>
          <a:xfrm>
            <a:off x="4434840" y="3840480"/>
            <a:ext cx="4114800" cy="256032"/>
          </a:xfrm>
          <a:prstGeom prst="rect">
            <a:avLst/>
          </a:prstGeom>
          <a:noFill/>
          <a:ln/>
        </p:spPr>
        <p:txBody>
          <a:bodyPr wrap="square" rtlCol="0" anchor="ctr"/>
          <a:lstStyle/>
          <a:p>
            <a:pPr marL="0" indent="0" algn="ctr">
              <a:buNone/>
            </a:pPr>
            <a:r>
              <a:rPr lang="en-US" sz="1100" b="1" dirty="0">
                <a:solidFill>
                  <a:srgbClr val="FFFF99"/>
                </a:solidFill>
                <a:latin typeface="Calibri" pitchFamily="34" charset="0"/>
                <a:ea typeface="Calibri" pitchFamily="34" charset="-122"/>
                <a:cs typeface="Calibri" pitchFamily="34" charset="-120"/>
              </a:rPr>
              <a:t>Score = 100 − Σ(penaltyᵢ × weightᵢ)</a:t>
            </a:r>
            <a:endParaRPr lang="en-US" sz="1100" dirty="0"/>
          </a:p>
        </p:txBody>
      </p:sp>
      <p:sp>
        <p:nvSpPr>
          <p:cNvPr id="45" name="Text 43"/>
          <p:cNvSpPr/>
          <p:nvPr/>
        </p:nvSpPr>
        <p:spPr>
          <a:xfrm>
            <a:off x="320040" y="4078224"/>
            <a:ext cx="8229600" cy="274320"/>
          </a:xfrm>
          <a:prstGeom prst="rect">
            <a:avLst/>
          </a:prstGeom>
          <a:noFill/>
          <a:ln/>
        </p:spPr>
        <p:txBody>
          <a:bodyPr wrap="square" rtlCol="0" anchor="ctr"/>
          <a:lstStyle/>
          <a:p>
            <a:pPr marL="0" indent="0" algn="ctr">
              <a:buNone/>
            </a:pPr>
            <a:r>
              <a:rPr lang="en-US" sz="900" dirty="0">
                <a:solidFill>
                  <a:srgbClr val="AAFFCC"/>
                </a:solidFill>
                <a:latin typeface="Calibri" pitchFamily="34" charset="0"/>
                <a:ea typeface="Calibri" pitchFamily="34" charset="-122"/>
                <a:cs typeface="Calibri" pitchFamily="34" charset="-120"/>
              </a:rPr>
              <a:t>Brake 25%  ·  Accel 20%  ·  Corner 25%  ·  Speed 20%  ·  Stability 10%  →  Score 0–100 (updated every 5 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Design Details — System Architecture &amp; Benchmarking</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Text 5"/>
          <p:cNvSpPr/>
          <p:nvPr/>
        </p:nvSpPr>
        <p:spPr>
          <a:xfrm>
            <a:off x="365760" y="819421"/>
            <a:ext cx="5029200" cy="256032"/>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Hardware block diagram</a:t>
            </a:r>
            <a:endParaRPr lang="en-US" sz="1200" dirty="0"/>
          </a:p>
        </p:txBody>
      </p:sp>
      <p:sp>
        <p:nvSpPr>
          <p:cNvPr id="8" name="Shape 6"/>
          <p:cNvSpPr/>
          <p:nvPr/>
        </p:nvSpPr>
        <p:spPr>
          <a:xfrm>
            <a:off x="1874520" y="2057378"/>
            <a:ext cx="1828800" cy="749808"/>
          </a:xfrm>
          <a:prstGeom prst="rect">
            <a:avLst/>
          </a:prstGeom>
          <a:solidFill>
            <a:srgbClr val="0A1A0F"/>
          </a:solidFill>
          <a:ln w="12700">
            <a:solidFill>
              <a:srgbClr val="1DB954"/>
            </a:solidFill>
            <a:prstDash val="solid"/>
          </a:ln>
        </p:spPr>
      </p:sp>
      <p:sp>
        <p:nvSpPr>
          <p:cNvPr id="9" name="Text 7"/>
          <p:cNvSpPr/>
          <p:nvPr/>
        </p:nvSpPr>
        <p:spPr>
          <a:xfrm>
            <a:off x="1874520" y="2057378"/>
            <a:ext cx="1828800" cy="749808"/>
          </a:xfrm>
          <a:prstGeom prst="rect">
            <a:avLst/>
          </a:prstGeom>
          <a:noFill/>
          <a:ln/>
        </p:spPr>
        <p:txBody>
          <a:bodyPr wrap="square" rtlCol="0" anchor="ctr"/>
          <a:lstStyle/>
          <a:p>
            <a:pPr marL="0" indent="0" algn="ctr">
              <a:buNone/>
            </a:pPr>
            <a:r>
              <a:rPr lang="en-US" sz="1200" b="1" dirty="0">
                <a:solidFill>
                  <a:srgbClr val="1DB954"/>
                </a:solidFill>
                <a:latin typeface="Calibri" pitchFamily="34" charset="0"/>
                <a:ea typeface="Calibri" pitchFamily="34" charset="-122"/>
                <a:cs typeface="Calibri" pitchFamily="34" charset="-120"/>
              </a:rPr>
              <a:t>ESP32</a:t>
            </a:r>
            <a:endParaRPr lang="en-US" sz="1200" dirty="0"/>
          </a:p>
          <a:p>
            <a:pPr marL="0" indent="0" algn="ctr">
              <a:buNone/>
            </a:pPr>
            <a:r>
              <a:rPr lang="en-US" sz="1200" b="1" dirty="0">
                <a:solidFill>
                  <a:srgbClr val="1DB954"/>
                </a:solidFill>
                <a:latin typeface="Calibri" pitchFamily="34" charset="0"/>
                <a:ea typeface="Calibri" pitchFamily="34" charset="-122"/>
                <a:cs typeface="Calibri" pitchFamily="34" charset="-120"/>
              </a:rPr>
              <a:t>MCU</a:t>
            </a:r>
            <a:endParaRPr lang="en-US" sz="1200" dirty="0"/>
          </a:p>
        </p:txBody>
      </p:sp>
      <p:sp>
        <p:nvSpPr>
          <p:cNvPr id="10" name="Shape 8"/>
          <p:cNvSpPr/>
          <p:nvPr/>
        </p:nvSpPr>
        <p:spPr>
          <a:xfrm>
            <a:off x="365760" y="1399010"/>
            <a:ext cx="1417320" cy="566928"/>
          </a:xfrm>
          <a:prstGeom prst="rect">
            <a:avLst/>
          </a:prstGeom>
          <a:solidFill>
            <a:srgbClr val="0D6E3D"/>
          </a:solidFill>
          <a:ln w="12700">
            <a:solidFill>
              <a:srgbClr val="55CC77"/>
            </a:solidFill>
            <a:prstDash val="solid"/>
          </a:ln>
        </p:spPr>
      </p:sp>
      <p:sp>
        <p:nvSpPr>
          <p:cNvPr id="11" name="Text 9"/>
          <p:cNvSpPr/>
          <p:nvPr/>
        </p:nvSpPr>
        <p:spPr>
          <a:xfrm>
            <a:off x="365760" y="1399010"/>
            <a:ext cx="14173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MPU-6050</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IMU</a:t>
            </a:r>
            <a:endParaRPr lang="en-US" sz="1000" dirty="0"/>
          </a:p>
        </p:txBody>
      </p:sp>
      <p:sp>
        <p:nvSpPr>
          <p:cNvPr id="12" name="Shape 10"/>
          <p:cNvSpPr/>
          <p:nvPr/>
        </p:nvSpPr>
        <p:spPr>
          <a:xfrm>
            <a:off x="2011680" y="1353290"/>
            <a:ext cx="1417320" cy="566928"/>
          </a:xfrm>
          <a:prstGeom prst="rect">
            <a:avLst/>
          </a:prstGeom>
          <a:solidFill>
            <a:srgbClr val="0D6E3D"/>
          </a:solidFill>
          <a:ln w="12700">
            <a:solidFill>
              <a:srgbClr val="55CC77"/>
            </a:solidFill>
            <a:prstDash val="solid"/>
          </a:ln>
        </p:spPr>
      </p:sp>
      <p:sp>
        <p:nvSpPr>
          <p:cNvPr id="13" name="Text 11"/>
          <p:cNvSpPr/>
          <p:nvPr/>
        </p:nvSpPr>
        <p:spPr>
          <a:xfrm>
            <a:off x="2011680" y="1353290"/>
            <a:ext cx="14173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NEO-6M</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GPS</a:t>
            </a:r>
            <a:endParaRPr lang="en-US" sz="1000" dirty="0"/>
          </a:p>
        </p:txBody>
      </p:sp>
      <p:sp>
        <p:nvSpPr>
          <p:cNvPr id="14" name="Shape 12"/>
          <p:cNvSpPr/>
          <p:nvPr/>
        </p:nvSpPr>
        <p:spPr>
          <a:xfrm>
            <a:off x="3566160" y="1399010"/>
            <a:ext cx="1417320" cy="566928"/>
          </a:xfrm>
          <a:prstGeom prst="rect">
            <a:avLst/>
          </a:prstGeom>
          <a:solidFill>
            <a:srgbClr val="0D6E3D"/>
          </a:solidFill>
          <a:ln w="12700">
            <a:solidFill>
              <a:srgbClr val="55CC77"/>
            </a:solidFill>
            <a:prstDash val="solid"/>
          </a:ln>
        </p:spPr>
      </p:sp>
      <p:sp>
        <p:nvSpPr>
          <p:cNvPr id="15" name="Text 13"/>
          <p:cNvSpPr/>
          <p:nvPr/>
        </p:nvSpPr>
        <p:spPr>
          <a:xfrm>
            <a:off x="3566160" y="1399010"/>
            <a:ext cx="14173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BMP280</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Baro</a:t>
            </a:r>
            <a:endParaRPr lang="en-US" sz="1000" dirty="0"/>
          </a:p>
        </p:txBody>
      </p:sp>
      <p:sp>
        <p:nvSpPr>
          <p:cNvPr id="16" name="Shape 14"/>
          <p:cNvSpPr/>
          <p:nvPr/>
        </p:nvSpPr>
        <p:spPr>
          <a:xfrm>
            <a:off x="365760" y="3136370"/>
            <a:ext cx="1417320" cy="566928"/>
          </a:xfrm>
          <a:prstGeom prst="rect">
            <a:avLst/>
          </a:prstGeom>
          <a:solidFill>
            <a:srgbClr val="333300"/>
          </a:solidFill>
          <a:ln w="12700">
            <a:solidFill>
              <a:srgbClr val="55CC77"/>
            </a:solidFill>
            <a:prstDash val="solid"/>
          </a:ln>
        </p:spPr>
      </p:sp>
      <p:sp>
        <p:nvSpPr>
          <p:cNvPr id="17" name="Text 15"/>
          <p:cNvSpPr/>
          <p:nvPr/>
        </p:nvSpPr>
        <p:spPr>
          <a:xfrm>
            <a:off x="365760" y="3136370"/>
            <a:ext cx="14173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Alert</a:t>
            </a:r>
            <a:endParaRPr lang="en-US" sz="1000" dirty="0"/>
          </a:p>
        </p:txBody>
      </p:sp>
      <p:sp>
        <p:nvSpPr>
          <p:cNvPr id="18" name="Shape 16"/>
          <p:cNvSpPr/>
          <p:nvPr/>
        </p:nvSpPr>
        <p:spPr>
          <a:xfrm>
            <a:off x="2011680" y="3364970"/>
            <a:ext cx="1417320" cy="566928"/>
          </a:xfrm>
          <a:prstGeom prst="rect">
            <a:avLst/>
          </a:prstGeom>
          <a:solidFill>
            <a:srgbClr val="1A1A6A"/>
          </a:solidFill>
          <a:ln w="12700">
            <a:solidFill>
              <a:srgbClr val="55CC77"/>
            </a:solidFill>
            <a:prstDash val="solid"/>
          </a:ln>
        </p:spPr>
      </p:sp>
      <p:sp>
        <p:nvSpPr>
          <p:cNvPr id="19" name="Text 17"/>
          <p:cNvSpPr/>
          <p:nvPr/>
        </p:nvSpPr>
        <p:spPr>
          <a:xfrm>
            <a:off x="2011680" y="3364970"/>
            <a:ext cx="14173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20" name="Shape 18"/>
          <p:cNvSpPr/>
          <p:nvPr/>
        </p:nvSpPr>
        <p:spPr>
          <a:xfrm>
            <a:off x="3566160" y="3136370"/>
            <a:ext cx="1417320" cy="566928"/>
          </a:xfrm>
          <a:prstGeom prst="rect">
            <a:avLst/>
          </a:prstGeom>
          <a:solidFill>
            <a:srgbClr val="1A1A6A"/>
          </a:solidFill>
          <a:ln w="12700">
            <a:solidFill>
              <a:srgbClr val="55CC77"/>
            </a:solidFill>
            <a:prstDash val="solid"/>
          </a:ln>
        </p:spPr>
      </p:sp>
      <p:sp>
        <p:nvSpPr>
          <p:cNvPr id="21" name="Text 19"/>
          <p:cNvSpPr/>
          <p:nvPr/>
        </p:nvSpPr>
        <p:spPr>
          <a:xfrm>
            <a:off x="3566160" y="3136370"/>
            <a:ext cx="1417320" cy="56692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Wi-Fi</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Cloud</a:t>
            </a:r>
            <a:endParaRPr lang="en-US" sz="1000" dirty="0"/>
          </a:p>
        </p:txBody>
      </p:sp>
      <p:sp>
        <p:nvSpPr>
          <p:cNvPr id="22" name="Shape 20"/>
          <p:cNvSpPr/>
          <p:nvPr/>
        </p:nvSpPr>
        <p:spPr>
          <a:xfrm>
            <a:off x="1078992" y="1965937"/>
            <a:ext cx="795527" cy="393181"/>
          </a:xfrm>
          <a:prstGeom prst="line">
            <a:avLst/>
          </a:prstGeom>
          <a:noFill/>
          <a:ln w="12700">
            <a:solidFill>
              <a:srgbClr val="1DB954"/>
            </a:solidFill>
            <a:prstDash val="solid"/>
          </a:ln>
        </p:spPr>
      </p:sp>
      <p:sp>
        <p:nvSpPr>
          <p:cNvPr id="24" name="Shape 22"/>
          <p:cNvSpPr/>
          <p:nvPr/>
        </p:nvSpPr>
        <p:spPr>
          <a:xfrm>
            <a:off x="2715768" y="1920218"/>
            <a:ext cx="0" cy="137160"/>
          </a:xfrm>
          <a:prstGeom prst="line">
            <a:avLst/>
          </a:prstGeom>
          <a:noFill/>
          <a:ln w="12700">
            <a:solidFill>
              <a:srgbClr val="1DB954"/>
            </a:solidFill>
            <a:prstDash val="solid"/>
          </a:ln>
        </p:spPr>
      </p:sp>
      <p:sp>
        <p:nvSpPr>
          <p:cNvPr id="25" name="Shape 23"/>
          <p:cNvSpPr/>
          <p:nvPr/>
        </p:nvSpPr>
        <p:spPr>
          <a:xfrm flipH="1">
            <a:off x="3703320" y="1965937"/>
            <a:ext cx="594360" cy="438891"/>
          </a:xfrm>
          <a:prstGeom prst="line">
            <a:avLst/>
          </a:prstGeom>
          <a:noFill/>
          <a:ln w="12700">
            <a:solidFill>
              <a:srgbClr val="1DB954"/>
            </a:solidFill>
            <a:prstDash val="solid"/>
          </a:ln>
        </p:spPr>
      </p:sp>
      <p:sp>
        <p:nvSpPr>
          <p:cNvPr id="26" name="Shape 24"/>
          <p:cNvSpPr/>
          <p:nvPr/>
        </p:nvSpPr>
        <p:spPr>
          <a:xfrm>
            <a:off x="3566160" y="1965938"/>
            <a:ext cx="137160" cy="0"/>
          </a:xfrm>
          <a:prstGeom prst="line">
            <a:avLst/>
          </a:prstGeom>
          <a:noFill/>
          <a:ln w="12700">
            <a:solidFill>
              <a:srgbClr val="1DB954"/>
            </a:solidFill>
            <a:prstDash val="solid"/>
          </a:ln>
        </p:spPr>
      </p:sp>
      <p:sp>
        <p:nvSpPr>
          <p:cNvPr id="27" name="Shape 25"/>
          <p:cNvSpPr/>
          <p:nvPr/>
        </p:nvSpPr>
        <p:spPr>
          <a:xfrm>
            <a:off x="1078992" y="2807186"/>
            <a:ext cx="795528" cy="0"/>
          </a:xfrm>
          <a:prstGeom prst="line">
            <a:avLst/>
          </a:prstGeom>
          <a:noFill/>
          <a:ln w="12700">
            <a:solidFill>
              <a:srgbClr val="5599FF"/>
            </a:solidFill>
            <a:prstDash val="solid"/>
          </a:ln>
        </p:spPr>
      </p:sp>
      <p:sp>
        <p:nvSpPr>
          <p:cNvPr id="28" name="Shape 26"/>
          <p:cNvSpPr/>
          <p:nvPr/>
        </p:nvSpPr>
        <p:spPr>
          <a:xfrm>
            <a:off x="1078992" y="2807186"/>
            <a:ext cx="0" cy="329184"/>
          </a:xfrm>
          <a:prstGeom prst="line">
            <a:avLst/>
          </a:prstGeom>
          <a:noFill/>
          <a:ln w="12700">
            <a:solidFill>
              <a:srgbClr val="5599FF"/>
            </a:solidFill>
            <a:prstDash val="solid"/>
          </a:ln>
        </p:spPr>
      </p:sp>
      <p:sp>
        <p:nvSpPr>
          <p:cNvPr id="29" name="Shape 27"/>
          <p:cNvSpPr/>
          <p:nvPr/>
        </p:nvSpPr>
        <p:spPr>
          <a:xfrm>
            <a:off x="2715768" y="2807186"/>
            <a:ext cx="0" cy="557784"/>
          </a:xfrm>
          <a:prstGeom prst="line">
            <a:avLst/>
          </a:prstGeom>
          <a:noFill/>
          <a:ln w="12700">
            <a:solidFill>
              <a:srgbClr val="5599FF"/>
            </a:solidFill>
            <a:prstDash val="solid"/>
          </a:ln>
        </p:spPr>
      </p:sp>
      <p:sp>
        <p:nvSpPr>
          <p:cNvPr id="30" name="Shape 28"/>
          <p:cNvSpPr/>
          <p:nvPr/>
        </p:nvSpPr>
        <p:spPr>
          <a:xfrm>
            <a:off x="4069080" y="2807186"/>
            <a:ext cx="0" cy="329184"/>
          </a:xfrm>
          <a:prstGeom prst="line">
            <a:avLst/>
          </a:prstGeom>
          <a:noFill/>
          <a:ln w="12700">
            <a:solidFill>
              <a:srgbClr val="5599FF"/>
            </a:solidFill>
            <a:prstDash val="solid"/>
          </a:ln>
        </p:spPr>
      </p:sp>
      <p:sp>
        <p:nvSpPr>
          <p:cNvPr id="31" name="Shape 29"/>
          <p:cNvSpPr/>
          <p:nvPr/>
        </p:nvSpPr>
        <p:spPr>
          <a:xfrm>
            <a:off x="3703320" y="2807186"/>
            <a:ext cx="365760" cy="0"/>
          </a:xfrm>
          <a:prstGeom prst="line">
            <a:avLst/>
          </a:prstGeom>
          <a:noFill/>
          <a:ln w="12700">
            <a:solidFill>
              <a:srgbClr val="5599FF"/>
            </a:solidFill>
            <a:prstDash val="solid"/>
          </a:ln>
        </p:spPr>
      </p:sp>
      <p:sp>
        <p:nvSpPr>
          <p:cNvPr id="32" name="Text 30"/>
          <p:cNvSpPr/>
          <p:nvPr/>
        </p:nvSpPr>
        <p:spPr>
          <a:xfrm>
            <a:off x="801859" y="2029946"/>
            <a:ext cx="914400" cy="182880"/>
          </a:xfrm>
          <a:prstGeom prst="rect">
            <a:avLst/>
          </a:prstGeom>
          <a:noFill/>
          <a:ln/>
        </p:spPr>
        <p:txBody>
          <a:bodyPr wrap="square" rtlCol="0" anchor="ctr"/>
          <a:lstStyle/>
          <a:p>
            <a:pPr marL="0" indent="0">
              <a:buNone/>
            </a:pPr>
            <a:r>
              <a:rPr lang="en-US" sz="700" dirty="0">
                <a:solidFill>
                  <a:srgbClr val="88CC88"/>
                </a:solidFill>
                <a:latin typeface="Calibri" pitchFamily="34" charset="0"/>
                <a:ea typeface="Calibri" pitchFamily="34" charset="-122"/>
                <a:cs typeface="Calibri" pitchFamily="34" charset="-120"/>
              </a:rPr>
              <a:t>I²C / SPI</a:t>
            </a:r>
            <a:endParaRPr lang="en-US" sz="700" dirty="0"/>
          </a:p>
        </p:txBody>
      </p:sp>
      <p:sp>
        <p:nvSpPr>
          <p:cNvPr id="33" name="Text 31"/>
          <p:cNvSpPr/>
          <p:nvPr/>
        </p:nvSpPr>
        <p:spPr>
          <a:xfrm>
            <a:off x="2423160" y="1911074"/>
            <a:ext cx="548640" cy="182880"/>
          </a:xfrm>
          <a:prstGeom prst="rect">
            <a:avLst/>
          </a:prstGeom>
          <a:noFill/>
          <a:ln/>
        </p:spPr>
        <p:txBody>
          <a:bodyPr wrap="square" rtlCol="0" anchor="ctr"/>
          <a:lstStyle/>
          <a:p>
            <a:pPr marL="0" indent="0">
              <a:buNone/>
            </a:pPr>
            <a:r>
              <a:rPr lang="en-US" sz="700" dirty="0">
                <a:solidFill>
                  <a:srgbClr val="88CC88"/>
                </a:solidFill>
                <a:latin typeface="Calibri" pitchFamily="34" charset="0"/>
                <a:ea typeface="Calibri" pitchFamily="34" charset="-122"/>
                <a:cs typeface="Calibri" pitchFamily="34" charset="-120"/>
              </a:rPr>
              <a:t>UART</a:t>
            </a:r>
            <a:endParaRPr lang="en-US" sz="700" dirty="0"/>
          </a:p>
        </p:txBody>
      </p:sp>
      <p:sp>
        <p:nvSpPr>
          <p:cNvPr id="34" name="Text 32"/>
          <p:cNvSpPr/>
          <p:nvPr/>
        </p:nvSpPr>
        <p:spPr>
          <a:xfrm>
            <a:off x="2286000" y="2951028"/>
            <a:ext cx="731520" cy="182880"/>
          </a:xfrm>
          <a:prstGeom prst="rect">
            <a:avLst/>
          </a:prstGeom>
          <a:noFill/>
          <a:ln/>
        </p:spPr>
        <p:txBody>
          <a:bodyPr wrap="square" rtlCol="0" anchor="ctr"/>
          <a:lstStyle/>
          <a:p>
            <a:pPr marL="0" indent="0">
              <a:buNone/>
            </a:pPr>
            <a:r>
              <a:rPr lang="en-US" sz="700" dirty="0">
                <a:solidFill>
                  <a:srgbClr val="8888FF"/>
                </a:solidFill>
                <a:latin typeface="Calibri" pitchFamily="34" charset="0"/>
                <a:ea typeface="Calibri" pitchFamily="34" charset="-122"/>
                <a:cs typeface="Calibri" pitchFamily="34" charset="-120"/>
              </a:rPr>
              <a:t>BLE/WiFi</a:t>
            </a:r>
            <a:endParaRPr lang="en-US" sz="700" dirty="0"/>
          </a:p>
        </p:txBody>
      </p:sp>
      <p:sp>
        <p:nvSpPr>
          <p:cNvPr id="35" name="Text 33"/>
          <p:cNvSpPr/>
          <p:nvPr/>
        </p:nvSpPr>
        <p:spPr>
          <a:xfrm>
            <a:off x="5577840" y="685800"/>
            <a:ext cx="3200400" cy="256032"/>
          </a:xfrm>
          <a:prstGeom prst="rect">
            <a:avLst/>
          </a:prstGeom>
          <a:noFill/>
          <a:ln/>
        </p:spPr>
        <p:txBody>
          <a:bodyPr wrap="square" rtlCol="0" anchor="ctr"/>
          <a:lstStyle/>
          <a:p>
            <a:pPr marL="0" indent="0">
              <a:buNone/>
            </a:pPr>
            <a:r>
              <a:rPr lang="en-US" sz="1200" b="1" dirty="0">
                <a:solidFill>
                  <a:srgbClr val="0E7A3A"/>
                </a:solidFill>
                <a:latin typeface="Calibri" pitchFamily="34" charset="0"/>
                <a:ea typeface="Calibri" pitchFamily="34" charset="-122"/>
                <a:cs typeface="Calibri" pitchFamily="34" charset="-120"/>
              </a:rPr>
              <a:t>Benchmarking vs existing solutions</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577840" y="987552"/>
          <a:ext cx="3200400" cy="3657600"/>
        </p:xfrm>
        <a:graphic>
          <a:graphicData uri="http://schemas.openxmlformats.org/drawingml/2006/table">
            <a:tbl>
              <a:tblPr/>
              <a:tblGrid>
                <a:gridCol w="1691640">
                  <a:extLst>
                    <a:ext uri="{9D8B030D-6E8A-4147-A177-3AD203B41FA5}">
                      <a16:colId xmlns:a16="http://schemas.microsoft.com/office/drawing/2014/main" val="20000"/>
                    </a:ext>
                  </a:extLst>
                </a:gridCol>
                <a:gridCol w="758952">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tblGrid>
              <a:tr h="45720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RideIQ</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Others</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2-wheeler specific</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Works offline</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Lean angle tracking</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Cost &lt; ₹1,000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Real-time alert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Context-aware scoring</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Jerk-based (not G-force)</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Logic Flow Diagram — Real-Time Scoring Pipeline</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Shape 5"/>
          <p:cNvSpPr/>
          <p:nvPr/>
        </p:nvSpPr>
        <p:spPr>
          <a:xfrm>
            <a:off x="66822" y="804672"/>
            <a:ext cx="2011680" cy="274320"/>
          </a:xfrm>
          <a:prstGeom prst="rect">
            <a:avLst/>
          </a:prstGeom>
          <a:solidFill>
            <a:srgbClr val="0D6E3D"/>
          </a:solidFill>
          <a:ln w="12700">
            <a:solidFill>
              <a:srgbClr val="0D6E3D"/>
            </a:solidFill>
            <a:prstDash val="solid"/>
          </a:ln>
        </p:spPr>
      </p:sp>
      <p:sp>
        <p:nvSpPr>
          <p:cNvPr id="8" name="Text 6"/>
          <p:cNvSpPr/>
          <p:nvPr/>
        </p:nvSpPr>
        <p:spPr>
          <a:xfrm>
            <a:off x="66822" y="804672"/>
            <a:ext cx="201168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 acquisition</a:t>
            </a:r>
            <a:endParaRPr lang="en-US" sz="950" dirty="0"/>
          </a:p>
        </p:txBody>
      </p:sp>
      <p:sp>
        <p:nvSpPr>
          <p:cNvPr id="9" name="Shape 7"/>
          <p:cNvSpPr/>
          <p:nvPr/>
        </p:nvSpPr>
        <p:spPr>
          <a:xfrm>
            <a:off x="2444262" y="804672"/>
            <a:ext cx="2011680" cy="274320"/>
          </a:xfrm>
          <a:prstGeom prst="rect">
            <a:avLst/>
          </a:prstGeom>
          <a:solidFill>
            <a:srgbClr val="0A5FA0"/>
          </a:solidFill>
          <a:ln w="12700">
            <a:solidFill>
              <a:srgbClr val="0A5FA0"/>
            </a:solidFill>
            <a:prstDash val="solid"/>
          </a:ln>
        </p:spPr>
      </p:sp>
      <p:sp>
        <p:nvSpPr>
          <p:cNvPr id="10" name="Text 8"/>
          <p:cNvSpPr/>
          <p:nvPr/>
        </p:nvSpPr>
        <p:spPr>
          <a:xfrm>
            <a:off x="2444262" y="804672"/>
            <a:ext cx="201168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Processing</a:t>
            </a:r>
            <a:endParaRPr lang="en-US" sz="950" dirty="0"/>
          </a:p>
        </p:txBody>
      </p:sp>
      <p:sp>
        <p:nvSpPr>
          <p:cNvPr id="11" name="Shape 9"/>
          <p:cNvSpPr/>
          <p:nvPr/>
        </p:nvSpPr>
        <p:spPr>
          <a:xfrm>
            <a:off x="4821702" y="804672"/>
            <a:ext cx="2011680" cy="274320"/>
          </a:xfrm>
          <a:prstGeom prst="rect">
            <a:avLst/>
          </a:prstGeom>
          <a:solidFill>
            <a:srgbClr val="7A3D0A"/>
          </a:solidFill>
          <a:ln w="12700">
            <a:solidFill>
              <a:srgbClr val="7A3D0A"/>
            </a:solidFill>
            <a:prstDash val="solid"/>
          </a:ln>
        </p:spPr>
      </p:sp>
      <p:sp>
        <p:nvSpPr>
          <p:cNvPr id="12" name="Text 10"/>
          <p:cNvSpPr/>
          <p:nvPr/>
        </p:nvSpPr>
        <p:spPr>
          <a:xfrm>
            <a:off x="4821702" y="804672"/>
            <a:ext cx="201168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Scoring engine</a:t>
            </a:r>
            <a:endParaRPr lang="en-US" sz="950" dirty="0"/>
          </a:p>
        </p:txBody>
      </p:sp>
      <p:sp>
        <p:nvSpPr>
          <p:cNvPr id="13" name="Shape 11"/>
          <p:cNvSpPr/>
          <p:nvPr/>
        </p:nvSpPr>
        <p:spPr>
          <a:xfrm>
            <a:off x="7061982" y="804672"/>
            <a:ext cx="2011680" cy="274320"/>
          </a:xfrm>
          <a:prstGeom prst="rect">
            <a:avLst/>
          </a:prstGeom>
          <a:solidFill>
            <a:srgbClr val="4A0A6E"/>
          </a:solidFill>
          <a:ln w="12700">
            <a:solidFill>
              <a:srgbClr val="4A0A6E"/>
            </a:solidFill>
            <a:prstDash val="solid"/>
          </a:ln>
        </p:spPr>
      </p:sp>
      <p:sp>
        <p:nvSpPr>
          <p:cNvPr id="14" name="Text 12"/>
          <p:cNvSpPr/>
          <p:nvPr/>
        </p:nvSpPr>
        <p:spPr>
          <a:xfrm>
            <a:off x="7061982" y="804672"/>
            <a:ext cx="201168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Output</a:t>
            </a:r>
            <a:endParaRPr lang="en-US" sz="950" dirty="0"/>
          </a:p>
        </p:txBody>
      </p:sp>
      <p:sp>
        <p:nvSpPr>
          <p:cNvPr id="15" name="Shape 13"/>
          <p:cNvSpPr/>
          <p:nvPr/>
        </p:nvSpPr>
        <p:spPr>
          <a:xfrm>
            <a:off x="66822" y="1170432"/>
            <a:ext cx="2011680" cy="402336"/>
          </a:xfrm>
          <a:prstGeom prst="rect">
            <a:avLst/>
          </a:prstGeom>
          <a:solidFill>
            <a:srgbClr val="0D6E3D"/>
          </a:solidFill>
          <a:ln w="12700">
            <a:solidFill>
              <a:srgbClr val="0D6E3D"/>
            </a:solidFill>
            <a:prstDash val="solid"/>
          </a:ln>
        </p:spPr>
      </p:sp>
      <p:sp>
        <p:nvSpPr>
          <p:cNvPr id="16" name="Text 14"/>
          <p:cNvSpPr/>
          <p:nvPr/>
        </p:nvSpPr>
        <p:spPr>
          <a:xfrm>
            <a:off x="121686" y="117043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IMU — MPU-6050</a:t>
            </a:r>
            <a:endParaRPr lang="en-US" sz="1000" dirty="0"/>
          </a:p>
        </p:txBody>
      </p:sp>
      <p:sp>
        <p:nvSpPr>
          <p:cNvPr id="17" name="Text 15"/>
          <p:cNvSpPr/>
          <p:nvPr/>
        </p:nvSpPr>
        <p:spPr>
          <a:xfrm>
            <a:off x="121686" y="137160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Ax, Ay, Az @ 100Hz · Gx, Gy, Gz</a:t>
            </a:r>
            <a:endParaRPr lang="en-US" sz="800" dirty="0"/>
          </a:p>
        </p:txBody>
      </p:sp>
      <p:sp>
        <p:nvSpPr>
          <p:cNvPr id="18" name="Shape 16"/>
          <p:cNvSpPr/>
          <p:nvPr/>
        </p:nvSpPr>
        <p:spPr>
          <a:xfrm>
            <a:off x="66822" y="1719072"/>
            <a:ext cx="2011680" cy="402336"/>
          </a:xfrm>
          <a:prstGeom prst="rect">
            <a:avLst/>
          </a:prstGeom>
          <a:solidFill>
            <a:srgbClr val="0D6E3D"/>
          </a:solidFill>
          <a:ln w="12700">
            <a:solidFill>
              <a:srgbClr val="0D6E3D"/>
            </a:solidFill>
            <a:prstDash val="solid"/>
          </a:ln>
        </p:spPr>
      </p:sp>
      <p:sp>
        <p:nvSpPr>
          <p:cNvPr id="19" name="Text 17"/>
          <p:cNvSpPr/>
          <p:nvPr/>
        </p:nvSpPr>
        <p:spPr>
          <a:xfrm>
            <a:off x="121686" y="171907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GPS — NEO-6M</a:t>
            </a:r>
            <a:endParaRPr lang="en-US" sz="1000" dirty="0"/>
          </a:p>
        </p:txBody>
      </p:sp>
      <p:sp>
        <p:nvSpPr>
          <p:cNvPr id="20" name="Text 18"/>
          <p:cNvSpPr/>
          <p:nvPr/>
        </p:nvSpPr>
        <p:spPr>
          <a:xfrm>
            <a:off x="121686" y="192024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Lat/Lon, Speed, Heading @ 10Hz</a:t>
            </a:r>
            <a:endParaRPr lang="en-US" sz="800" dirty="0"/>
          </a:p>
        </p:txBody>
      </p:sp>
      <p:sp>
        <p:nvSpPr>
          <p:cNvPr id="21" name="Shape 19"/>
          <p:cNvSpPr/>
          <p:nvPr/>
        </p:nvSpPr>
        <p:spPr>
          <a:xfrm>
            <a:off x="66822" y="2267712"/>
            <a:ext cx="2011680" cy="402336"/>
          </a:xfrm>
          <a:prstGeom prst="rect">
            <a:avLst/>
          </a:prstGeom>
          <a:solidFill>
            <a:srgbClr val="0D6E3D"/>
          </a:solidFill>
          <a:ln w="12700">
            <a:solidFill>
              <a:srgbClr val="0D6E3D"/>
            </a:solidFill>
            <a:prstDash val="solid"/>
          </a:ln>
        </p:spPr>
      </p:sp>
      <p:sp>
        <p:nvSpPr>
          <p:cNvPr id="22" name="Text 20"/>
          <p:cNvSpPr/>
          <p:nvPr/>
        </p:nvSpPr>
        <p:spPr>
          <a:xfrm>
            <a:off x="121686" y="226771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Barometer — BMP280</a:t>
            </a:r>
            <a:endParaRPr lang="en-US" sz="1000" dirty="0"/>
          </a:p>
        </p:txBody>
      </p:sp>
      <p:sp>
        <p:nvSpPr>
          <p:cNvPr id="23" name="Text 21"/>
          <p:cNvSpPr/>
          <p:nvPr/>
        </p:nvSpPr>
        <p:spPr>
          <a:xfrm>
            <a:off x="121686" y="246888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Altitude Δ → road incline %</a:t>
            </a:r>
            <a:endParaRPr lang="en-US" sz="800" dirty="0"/>
          </a:p>
        </p:txBody>
      </p:sp>
      <p:sp>
        <p:nvSpPr>
          <p:cNvPr id="24" name="Shape 22"/>
          <p:cNvSpPr/>
          <p:nvPr/>
        </p:nvSpPr>
        <p:spPr>
          <a:xfrm>
            <a:off x="66822" y="2816352"/>
            <a:ext cx="2011680" cy="402336"/>
          </a:xfrm>
          <a:prstGeom prst="rect">
            <a:avLst/>
          </a:prstGeom>
          <a:solidFill>
            <a:srgbClr val="0D6E3D"/>
          </a:solidFill>
          <a:ln w="12700">
            <a:solidFill>
              <a:srgbClr val="0D6E3D"/>
            </a:solidFill>
            <a:prstDash val="solid"/>
          </a:ln>
        </p:spPr>
      </p:sp>
      <p:sp>
        <p:nvSpPr>
          <p:cNvPr id="25" name="Text 23"/>
          <p:cNvSpPr/>
          <p:nvPr/>
        </p:nvSpPr>
        <p:spPr>
          <a:xfrm>
            <a:off x="121686" y="281635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Context DB (OSM)</a:t>
            </a:r>
            <a:endParaRPr lang="en-US" sz="1000" dirty="0"/>
          </a:p>
        </p:txBody>
      </p:sp>
      <p:sp>
        <p:nvSpPr>
          <p:cNvPr id="26" name="Text 24"/>
          <p:cNvSpPr/>
          <p:nvPr/>
        </p:nvSpPr>
        <p:spPr>
          <a:xfrm>
            <a:off x="121686" y="301752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Road class · Speed limit zone</a:t>
            </a:r>
            <a:endParaRPr lang="en-US" sz="800" dirty="0"/>
          </a:p>
        </p:txBody>
      </p:sp>
      <p:sp>
        <p:nvSpPr>
          <p:cNvPr id="27" name="Shape 25"/>
          <p:cNvSpPr/>
          <p:nvPr/>
        </p:nvSpPr>
        <p:spPr>
          <a:xfrm>
            <a:off x="2115078" y="1170432"/>
            <a:ext cx="0" cy="2048256"/>
          </a:xfrm>
          <a:prstGeom prst="line">
            <a:avLst/>
          </a:prstGeom>
          <a:noFill/>
          <a:ln w="6350">
            <a:solidFill>
              <a:srgbClr val="0D6E3D"/>
            </a:solidFill>
            <a:prstDash val="solid"/>
          </a:ln>
        </p:spPr>
      </p:sp>
      <p:sp>
        <p:nvSpPr>
          <p:cNvPr id="28" name="Shape 26"/>
          <p:cNvSpPr/>
          <p:nvPr/>
        </p:nvSpPr>
        <p:spPr>
          <a:xfrm>
            <a:off x="2133366" y="1371600"/>
            <a:ext cx="292608" cy="0"/>
          </a:xfrm>
          <a:prstGeom prst="line">
            <a:avLst/>
          </a:prstGeom>
          <a:noFill/>
          <a:ln w="15240">
            <a:solidFill>
              <a:srgbClr val="888888"/>
            </a:solidFill>
            <a:prstDash val="solid"/>
            <a:tailEnd type="triangle"/>
          </a:ln>
        </p:spPr>
      </p:sp>
      <p:sp>
        <p:nvSpPr>
          <p:cNvPr id="29" name="Shape 27"/>
          <p:cNvSpPr/>
          <p:nvPr/>
        </p:nvSpPr>
        <p:spPr>
          <a:xfrm>
            <a:off x="2133366" y="1920240"/>
            <a:ext cx="292608" cy="0"/>
          </a:xfrm>
          <a:prstGeom prst="line">
            <a:avLst/>
          </a:prstGeom>
          <a:noFill/>
          <a:ln w="15240">
            <a:solidFill>
              <a:srgbClr val="888888"/>
            </a:solidFill>
            <a:prstDash val="solid"/>
            <a:tailEnd type="triangle"/>
          </a:ln>
        </p:spPr>
      </p:sp>
      <p:sp>
        <p:nvSpPr>
          <p:cNvPr id="30" name="Shape 28"/>
          <p:cNvSpPr/>
          <p:nvPr/>
        </p:nvSpPr>
        <p:spPr>
          <a:xfrm>
            <a:off x="2133366" y="2468880"/>
            <a:ext cx="292608" cy="0"/>
          </a:xfrm>
          <a:prstGeom prst="line">
            <a:avLst/>
          </a:prstGeom>
          <a:noFill/>
          <a:ln w="15240">
            <a:solidFill>
              <a:srgbClr val="888888"/>
            </a:solidFill>
            <a:prstDash val="solid"/>
            <a:tailEnd type="triangle"/>
          </a:ln>
        </p:spPr>
      </p:sp>
      <p:sp>
        <p:nvSpPr>
          <p:cNvPr id="31" name="Shape 29"/>
          <p:cNvSpPr/>
          <p:nvPr/>
        </p:nvSpPr>
        <p:spPr>
          <a:xfrm>
            <a:off x="2133366" y="3017520"/>
            <a:ext cx="292608" cy="0"/>
          </a:xfrm>
          <a:prstGeom prst="line">
            <a:avLst/>
          </a:prstGeom>
          <a:noFill/>
          <a:ln w="15240">
            <a:solidFill>
              <a:srgbClr val="888888"/>
            </a:solidFill>
            <a:prstDash val="solid"/>
            <a:tailEnd type="triangle"/>
          </a:ln>
        </p:spPr>
      </p:sp>
      <p:sp>
        <p:nvSpPr>
          <p:cNvPr id="32" name="Shape 30"/>
          <p:cNvSpPr/>
          <p:nvPr/>
        </p:nvSpPr>
        <p:spPr>
          <a:xfrm>
            <a:off x="2444262" y="1170432"/>
            <a:ext cx="2011680" cy="402336"/>
          </a:xfrm>
          <a:prstGeom prst="rect">
            <a:avLst/>
          </a:prstGeom>
          <a:solidFill>
            <a:srgbClr val="0A5FA0"/>
          </a:solidFill>
          <a:ln w="12700">
            <a:solidFill>
              <a:srgbClr val="0A5FA0"/>
            </a:solidFill>
            <a:prstDash val="solid"/>
          </a:ln>
        </p:spPr>
      </p:sp>
      <p:sp>
        <p:nvSpPr>
          <p:cNvPr id="33" name="Text 31"/>
          <p:cNvSpPr/>
          <p:nvPr/>
        </p:nvSpPr>
        <p:spPr>
          <a:xfrm>
            <a:off x="2499126" y="117043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Kalman Filter</a:t>
            </a:r>
            <a:endParaRPr lang="en-US" sz="1000" dirty="0"/>
          </a:p>
        </p:txBody>
      </p:sp>
      <p:sp>
        <p:nvSpPr>
          <p:cNvPr id="34" name="Text 32"/>
          <p:cNvSpPr/>
          <p:nvPr/>
        </p:nvSpPr>
        <p:spPr>
          <a:xfrm>
            <a:off x="2499126" y="137160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Fuse IMU + GPS, reduce noise/drift</a:t>
            </a:r>
            <a:endParaRPr lang="en-US" sz="800" dirty="0"/>
          </a:p>
        </p:txBody>
      </p:sp>
      <p:sp>
        <p:nvSpPr>
          <p:cNvPr id="35" name="Shape 33"/>
          <p:cNvSpPr/>
          <p:nvPr/>
        </p:nvSpPr>
        <p:spPr>
          <a:xfrm>
            <a:off x="2444262" y="1719072"/>
            <a:ext cx="2011680" cy="402336"/>
          </a:xfrm>
          <a:prstGeom prst="rect">
            <a:avLst/>
          </a:prstGeom>
          <a:solidFill>
            <a:srgbClr val="0A5FA0"/>
          </a:solidFill>
          <a:ln w="12700">
            <a:solidFill>
              <a:srgbClr val="0A5FA0"/>
            </a:solidFill>
            <a:prstDash val="solid"/>
          </a:ln>
        </p:spPr>
      </p:sp>
      <p:sp>
        <p:nvSpPr>
          <p:cNvPr id="36" name="Text 34"/>
          <p:cNvSpPr/>
          <p:nvPr/>
        </p:nvSpPr>
        <p:spPr>
          <a:xfrm>
            <a:off x="2499126" y="171907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Jerk Computation</a:t>
            </a:r>
            <a:endParaRPr lang="en-US" sz="1000" dirty="0"/>
          </a:p>
        </p:txBody>
      </p:sp>
      <p:sp>
        <p:nvSpPr>
          <p:cNvPr id="37" name="Text 35"/>
          <p:cNvSpPr/>
          <p:nvPr/>
        </p:nvSpPr>
        <p:spPr>
          <a:xfrm>
            <a:off x="2499126" y="192024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J = ΔA/Δt  (m/s³) per axis</a:t>
            </a:r>
            <a:endParaRPr lang="en-US" sz="800" dirty="0"/>
          </a:p>
        </p:txBody>
      </p:sp>
      <p:sp>
        <p:nvSpPr>
          <p:cNvPr id="38" name="Shape 36"/>
          <p:cNvSpPr/>
          <p:nvPr/>
        </p:nvSpPr>
        <p:spPr>
          <a:xfrm>
            <a:off x="2444262" y="2267712"/>
            <a:ext cx="2011680" cy="402336"/>
          </a:xfrm>
          <a:prstGeom prst="rect">
            <a:avLst/>
          </a:prstGeom>
          <a:solidFill>
            <a:srgbClr val="0A5FA0"/>
          </a:solidFill>
          <a:ln w="12700">
            <a:solidFill>
              <a:srgbClr val="0A5FA0"/>
            </a:solidFill>
            <a:prstDash val="solid"/>
          </a:ln>
        </p:spPr>
      </p:sp>
      <p:sp>
        <p:nvSpPr>
          <p:cNvPr id="39" name="Text 37"/>
          <p:cNvSpPr/>
          <p:nvPr/>
        </p:nvSpPr>
        <p:spPr>
          <a:xfrm>
            <a:off x="2499126" y="226771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Lean Angle Est.</a:t>
            </a:r>
            <a:endParaRPr lang="en-US" sz="1000" dirty="0"/>
          </a:p>
        </p:txBody>
      </p:sp>
      <p:sp>
        <p:nvSpPr>
          <p:cNvPr id="40" name="Text 38"/>
          <p:cNvSpPr/>
          <p:nvPr/>
        </p:nvSpPr>
        <p:spPr>
          <a:xfrm>
            <a:off x="2499126" y="246888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θ = ∫Gz dt − GPS heading corr.</a:t>
            </a:r>
            <a:endParaRPr lang="en-US" sz="800" dirty="0"/>
          </a:p>
        </p:txBody>
      </p:sp>
      <p:sp>
        <p:nvSpPr>
          <p:cNvPr id="41" name="Shape 39"/>
          <p:cNvSpPr/>
          <p:nvPr/>
        </p:nvSpPr>
        <p:spPr>
          <a:xfrm>
            <a:off x="2444262" y="2816352"/>
            <a:ext cx="2011680" cy="402336"/>
          </a:xfrm>
          <a:prstGeom prst="rect">
            <a:avLst/>
          </a:prstGeom>
          <a:solidFill>
            <a:srgbClr val="0A5FA0"/>
          </a:solidFill>
          <a:ln w="12700">
            <a:solidFill>
              <a:srgbClr val="0A5FA0"/>
            </a:solidFill>
            <a:prstDash val="solid"/>
          </a:ln>
        </p:spPr>
      </p:sp>
      <p:sp>
        <p:nvSpPr>
          <p:cNvPr id="42" name="Text 40"/>
          <p:cNvSpPr/>
          <p:nvPr/>
        </p:nvSpPr>
        <p:spPr>
          <a:xfrm>
            <a:off x="2499126" y="281635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Event Detector</a:t>
            </a:r>
            <a:endParaRPr lang="en-US" sz="1000" dirty="0"/>
          </a:p>
        </p:txBody>
      </p:sp>
      <p:sp>
        <p:nvSpPr>
          <p:cNvPr id="43" name="Text 41"/>
          <p:cNvSpPr/>
          <p:nvPr/>
        </p:nvSpPr>
        <p:spPr>
          <a:xfrm>
            <a:off x="2499126" y="301752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Threshold crossing → event flag</a:t>
            </a:r>
            <a:endParaRPr lang="en-US" sz="800" dirty="0"/>
          </a:p>
        </p:txBody>
      </p:sp>
      <p:sp>
        <p:nvSpPr>
          <p:cNvPr id="44" name="Shape 42"/>
          <p:cNvSpPr/>
          <p:nvPr/>
        </p:nvSpPr>
        <p:spPr>
          <a:xfrm>
            <a:off x="2444262" y="3364992"/>
            <a:ext cx="2011680" cy="402336"/>
          </a:xfrm>
          <a:prstGeom prst="rect">
            <a:avLst/>
          </a:prstGeom>
          <a:solidFill>
            <a:srgbClr val="1565B0"/>
          </a:solidFill>
          <a:ln w="12700">
            <a:solidFill>
              <a:srgbClr val="1565B0"/>
            </a:solidFill>
            <a:prstDash val="solid"/>
          </a:ln>
        </p:spPr>
      </p:sp>
      <p:sp>
        <p:nvSpPr>
          <p:cNvPr id="45" name="Text 43"/>
          <p:cNvSpPr/>
          <p:nvPr/>
        </p:nvSpPr>
        <p:spPr>
          <a:xfrm>
            <a:off x="2499126" y="336499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Context Tagger</a:t>
            </a:r>
            <a:endParaRPr lang="en-US" sz="1000" dirty="0"/>
          </a:p>
        </p:txBody>
      </p:sp>
      <p:sp>
        <p:nvSpPr>
          <p:cNvPr id="46" name="Text 44"/>
          <p:cNvSpPr/>
          <p:nvPr/>
        </p:nvSpPr>
        <p:spPr>
          <a:xfrm>
            <a:off x="2499126" y="356616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Speed zone + road class lookup</a:t>
            </a:r>
            <a:endParaRPr lang="en-US" sz="800" dirty="0"/>
          </a:p>
        </p:txBody>
      </p:sp>
      <p:sp>
        <p:nvSpPr>
          <p:cNvPr id="47" name="Shape 45"/>
          <p:cNvSpPr/>
          <p:nvPr/>
        </p:nvSpPr>
        <p:spPr>
          <a:xfrm>
            <a:off x="3450102" y="1572768"/>
            <a:ext cx="0" cy="146304"/>
          </a:xfrm>
          <a:prstGeom prst="line">
            <a:avLst/>
          </a:prstGeom>
          <a:noFill/>
          <a:ln w="12700">
            <a:solidFill>
              <a:srgbClr val="888888"/>
            </a:solidFill>
            <a:prstDash val="solid"/>
            <a:tailEnd type="triangle"/>
          </a:ln>
        </p:spPr>
      </p:sp>
      <p:sp>
        <p:nvSpPr>
          <p:cNvPr id="48" name="Shape 46"/>
          <p:cNvSpPr/>
          <p:nvPr/>
        </p:nvSpPr>
        <p:spPr>
          <a:xfrm>
            <a:off x="3450102" y="2121408"/>
            <a:ext cx="0" cy="146304"/>
          </a:xfrm>
          <a:prstGeom prst="line">
            <a:avLst/>
          </a:prstGeom>
          <a:noFill/>
          <a:ln w="12700">
            <a:solidFill>
              <a:srgbClr val="888888"/>
            </a:solidFill>
            <a:prstDash val="solid"/>
            <a:tailEnd type="triangle"/>
          </a:ln>
        </p:spPr>
      </p:sp>
      <p:sp>
        <p:nvSpPr>
          <p:cNvPr id="49" name="Shape 47"/>
          <p:cNvSpPr/>
          <p:nvPr/>
        </p:nvSpPr>
        <p:spPr>
          <a:xfrm>
            <a:off x="3450102" y="2670048"/>
            <a:ext cx="0" cy="146304"/>
          </a:xfrm>
          <a:prstGeom prst="line">
            <a:avLst/>
          </a:prstGeom>
          <a:noFill/>
          <a:ln w="12700">
            <a:solidFill>
              <a:srgbClr val="888888"/>
            </a:solidFill>
            <a:prstDash val="solid"/>
            <a:tailEnd type="triangle"/>
          </a:ln>
        </p:spPr>
      </p:sp>
      <p:sp>
        <p:nvSpPr>
          <p:cNvPr id="50" name="Shape 48"/>
          <p:cNvSpPr/>
          <p:nvPr/>
        </p:nvSpPr>
        <p:spPr>
          <a:xfrm>
            <a:off x="4510806" y="3017520"/>
            <a:ext cx="292608" cy="0"/>
          </a:xfrm>
          <a:prstGeom prst="line">
            <a:avLst/>
          </a:prstGeom>
          <a:noFill/>
          <a:ln w="15240">
            <a:solidFill>
              <a:srgbClr val="888888"/>
            </a:solidFill>
            <a:prstDash val="solid"/>
            <a:tailEnd type="triangle"/>
          </a:ln>
        </p:spPr>
      </p:sp>
      <p:sp>
        <p:nvSpPr>
          <p:cNvPr id="51" name="Shape 49"/>
          <p:cNvSpPr/>
          <p:nvPr/>
        </p:nvSpPr>
        <p:spPr>
          <a:xfrm>
            <a:off x="4510806" y="3566160"/>
            <a:ext cx="292608" cy="0"/>
          </a:xfrm>
          <a:prstGeom prst="line">
            <a:avLst/>
          </a:prstGeom>
          <a:noFill/>
          <a:ln w="15240">
            <a:solidFill>
              <a:srgbClr val="888888"/>
            </a:solidFill>
            <a:prstDash val="solid"/>
            <a:tailEnd type="triangle"/>
          </a:ln>
        </p:spPr>
      </p:sp>
      <p:sp>
        <p:nvSpPr>
          <p:cNvPr id="52" name="Shape 50"/>
          <p:cNvSpPr/>
          <p:nvPr/>
        </p:nvSpPr>
        <p:spPr>
          <a:xfrm>
            <a:off x="4821702" y="1170432"/>
            <a:ext cx="2011680" cy="402336"/>
          </a:xfrm>
          <a:prstGeom prst="rect">
            <a:avLst/>
          </a:prstGeom>
          <a:solidFill>
            <a:srgbClr val="7A3D0A"/>
          </a:solidFill>
          <a:ln w="12700">
            <a:solidFill>
              <a:srgbClr val="7A3D0A"/>
            </a:solidFill>
            <a:prstDash val="solid"/>
          </a:ln>
        </p:spPr>
      </p:sp>
      <p:sp>
        <p:nvSpPr>
          <p:cNvPr id="53" name="Text 51"/>
          <p:cNvSpPr/>
          <p:nvPr/>
        </p:nvSpPr>
        <p:spPr>
          <a:xfrm>
            <a:off x="4876566" y="117043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Braking Score</a:t>
            </a:r>
            <a:endParaRPr lang="en-US" sz="1000" dirty="0"/>
          </a:p>
        </p:txBody>
      </p:sp>
      <p:sp>
        <p:nvSpPr>
          <p:cNvPr id="54" name="Text 52"/>
          <p:cNvSpPr/>
          <p:nvPr/>
        </p:nvSpPr>
        <p:spPr>
          <a:xfrm>
            <a:off x="4876566" y="137160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Penalty = f(|J|, freq)  wt=25%</a:t>
            </a:r>
            <a:endParaRPr lang="en-US" sz="800" dirty="0"/>
          </a:p>
        </p:txBody>
      </p:sp>
      <p:sp>
        <p:nvSpPr>
          <p:cNvPr id="55" name="Shape 53"/>
          <p:cNvSpPr/>
          <p:nvPr/>
        </p:nvSpPr>
        <p:spPr>
          <a:xfrm>
            <a:off x="4821702" y="1719072"/>
            <a:ext cx="2011680" cy="402336"/>
          </a:xfrm>
          <a:prstGeom prst="rect">
            <a:avLst/>
          </a:prstGeom>
          <a:solidFill>
            <a:srgbClr val="7A3D0A"/>
          </a:solidFill>
          <a:ln w="12700">
            <a:solidFill>
              <a:srgbClr val="7A3D0A"/>
            </a:solidFill>
            <a:prstDash val="solid"/>
          </a:ln>
        </p:spPr>
      </p:sp>
      <p:sp>
        <p:nvSpPr>
          <p:cNvPr id="56" name="Text 54"/>
          <p:cNvSpPr/>
          <p:nvPr/>
        </p:nvSpPr>
        <p:spPr>
          <a:xfrm>
            <a:off x="4876566" y="171907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Acceleration Score</a:t>
            </a:r>
            <a:endParaRPr lang="en-US" sz="1000" dirty="0"/>
          </a:p>
        </p:txBody>
      </p:sp>
      <p:sp>
        <p:nvSpPr>
          <p:cNvPr id="57" name="Text 55"/>
          <p:cNvSpPr/>
          <p:nvPr/>
        </p:nvSpPr>
        <p:spPr>
          <a:xfrm>
            <a:off x="4876566" y="192024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Penalty = f(|J|, freq)  wt=20%</a:t>
            </a:r>
            <a:endParaRPr lang="en-US" sz="800" dirty="0"/>
          </a:p>
        </p:txBody>
      </p:sp>
      <p:sp>
        <p:nvSpPr>
          <p:cNvPr id="58" name="Shape 56"/>
          <p:cNvSpPr/>
          <p:nvPr/>
        </p:nvSpPr>
        <p:spPr>
          <a:xfrm>
            <a:off x="4821702" y="2267712"/>
            <a:ext cx="2011680" cy="402336"/>
          </a:xfrm>
          <a:prstGeom prst="rect">
            <a:avLst/>
          </a:prstGeom>
          <a:solidFill>
            <a:srgbClr val="7A3D0A"/>
          </a:solidFill>
          <a:ln w="12700">
            <a:solidFill>
              <a:srgbClr val="7A3D0A"/>
            </a:solidFill>
            <a:prstDash val="solid"/>
          </a:ln>
        </p:spPr>
      </p:sp>
      <p:sp>
        <p:nvSpPr>
          <p:cNvPr id="59" name="Text 57"/>
          <p:cNvSpPr/>
          <p:nvPr/>
        </p:nvSpPr>
        <p:spPr>
          <a:xfrm>
            <a:off x="4876566" y="226771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Cornering Score</a:t>
            </a:r>
            <a:endParaRPr lang="en-US" sz="1000" dirty="0"/>
          </a:p>
        </p:txBody>
      </p:sp>
      <p:sp>
        <p:nvSpPr>
          <p:cNvPr id="60" name="Text 58"/>
          <p:cNvSpPr/>
          <p:nvPr/>
        </p:nvSpPr>
        <p:spPr>
          <a:xfrm>
            <a:off x="4876566" y="246888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Penalty = f(θ, G-force)  wt=25%</a:t>
            </a:r>
            <a:endParaRPr lang="en-US" sz="800" dirty="0"/>
          </a:p>
        </p:txBody>
      </p:sp>
      <p:sp>
        <p:nvSpPr>
          <p:cNvPr id="61" name="Shape 59"/>
          <p:cNvSpPr/>
          <p:nvPr/>
        </p:nvSpPr>
        <p:spPr>
          <a:xfrm>
            <a:off x="4821702" y="2816352"/>
            <a:ext cx="2011680" cy="402336"/>
          </a:xfrm>
          <a:prstGeom prst="rect">
            <a:avLst/>
          </a:prstGeom>
          <a:solidFill>
            <a:srgbClr val="7A3D0A"/>
          </a:solidFill>
          <a:ln w="12700">
            <a:solidFill>
              <a:srgbClr val="7A3D0A"/>
            </a:solidFill>
            <a:prstDash val="solid"/>
          </a:ln>
        </p:spPr>
      </p:sp>
      <p:sp>
        <p:nvSpPr>
          <p:cNvPr id="62" name="Text 60"/>
          <p:cNvSpPr/>
          <p:nvPr/>
        </p:nvSpPr>
        <p:spPr>
          <a:xfrm>
            <a:off x="4876566" y="281635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Speed Score</a:t>
            </a:r>
            <a:endParaRPr lang="en-US" sz="1000" dirty="0"/>
          </a:p>
        </p:txBody>
      </p:sp>
      <p:sp>
        <p:nvSpPr>
          <p:cNvPr id="63" name="Text 61"/>
          <p:cNvSpPr/>
          <p:nvPr/>
        </p:nvSpPr>
        <p:spPr>
          <a:xfrm>
            <a:off x="4876566" y="301752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Penalty = f(v/limit)  wt=20%</a:t>
            </a:r>
            <a:endParaRPr lang="en-US" sz="800" dirty="0"/>
          </a:p>
        </p:txBody>
      </p:sp>
      <p:sp>
        <p:nvSpPr>
          <p:cNvPr id="64" name="Shape 62"/>
          <p:cNvSpPr/>
          <p:nvPr/>
        </p:nvSpPr>
        <p:spPr>
          <a:xfrm>
            <a:off x="4821702" y="3364992"/>
            <a:ext cx="2011680" cy="402336"/>
          </a:xfrm>
          <a:prstGeom prst="rect">
            <a:avLst/>
          </a:prstGeom>
          <a:solidFill>
            <a:srgbClr val="7A3D0A"/>
          </a:solidFill>
          <a:ln w="12700">
            <a:solidFill>
              <a:srgbClr val="7A3D0A"/>
            </a:solidFill>
            <a:prstDash val="solid"/>
          </a:ln>
        </p:spPr>
      </p:sp>
      <p:sp>
        <p:nvSpPr>
          <p:cNvPr id="65" name="Text 63"/>
          <p:cNvSpPr/>
          <p:nvPr/>
        </p:nvSpPr>
        <p:spPr>
          <a:xfrm>
            <a:off x="4876566" y="336499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Stability Score</a:t>
            </a:r>
            <a:endParaRPr lang="en-US" sz="1000" dirty="0"/>
          </a:p>
        </p:txBody>
      </p:sp>
      <p:sp>
        <p:nvSpPr>
          <p:cNvPr id="66" name="Text 64"/>
          <p:cNvSpPr/>
          <p:nvPr/>
        </p:nvSpPr>
        <p:spPr>
          <a:xfrm>
            <a:off x="4876566" y="356616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Penalty = f(lateral J)  wt=10%</a:t>
            </a:r>
            <a:endParaRPr lang="en-US" sz="800" dirty="0"/>
          </a:p>
        </p:txBody>
      </p:sp>
      <p:sp>
        <p:nvSpPr>
          <p:cNvPr id="67" name="Shape 65"/>
          <p:cNvSpPr/>
          <p:nvPr/>
        </p:nvSpPr>
        <p:spPr>
          <a:xfrm>
            <a:off x="6888246" y="1371600"/>
            <a:ext cx="155448" cy="0"/>
          </a:xfrm>
          <a:prstGeom prst="line">
            <a:avLst/>
          </a:prstGeom>
          <a:noFill/>
          <a:ln w="15240">
            <a:solidFill>
              <a:srgbClr val="888888"/>
            </a:solidFill>
            <a:prstDash val="solid"/>
            <a:tailEnd type="triangle"/>
          </a:ln>
        </p:spPr>
      </p:sp>
      <p:sp>
        <p:nvSpPr>
          <p:cNvPr id="68" name="Shape 66"/>
          <p:cNvSpPr/>
          <p:nvPr/>
        </p:nvSpPr>
        <p:spPr>
          <a:xfrm>
            <a:off x="6888246" y="1920240"/>
            <a:ext cx="155448" cy="0"/>
          </a:xfrm>
          <a:prstGeom prst="line">
            <a:avLst/>
          </a:prstGeom>
          <a:noFill/>
          <a:ln w="15240">
            <a:solidFill>
              <a:srgbClr val="888888"/>
            </a:solidFill>
            <a:prstDash val="solid"/>
            <a:tailEnd type="triangle"/>
          </a:ln>
        </p:spPr>
      </p:sp>
      <p:sp>
        <p:nvSpPr>
          <p:cNvPr id="69" name="Shape 67"/>
          <p:cNvSpPr/>
          <p:nvPr/>
        </p:nvSpPr>
        <p:spPr>
          <a:xfrm>
            <a:off x="6888246" y="2468880"/>
            <a:ext cx="155448" cy="0"/>
          </a:xfrm>
          <a:prstGeom prst="line">
            <a:avLst/>
          </a:prstGeom>
          <a:noFill/>
          <a:ln w="15240">
            <a:solidFill>
              <a:srgbClr val="888888"/>
            </a:solidFill>
            <a:prstDash val="solid"/>
            <a:tailEnd type="triangle"/>
          </a:ln>
        </p:spPr>
      </p:sp>
      <p:sp>
        <p:nvSpPr>
          <p:cNvPr id="70" name="Shape 68"/>
          <p:cNvSpPr/>
          <p:nvPr/>
        </p:nvSpPr>
        <p:spPr>
          <a:xfrm>
            <a:off x="6888246" y="3017520"/>
            <a:ext cx="155448" cy="0"/>
          </a:xfrm>
          <a:prstGeom prst="line">
            <a:avLst/>
          </a:prstGeom>
          <a:noFill/>
          <a:ln w="15240">
            <a:solidFill>
              <a:srgbClr val="888888"/>
            </a:solidFill>
            <a:prstDash val="solid"/>
            <a:tailEnd type="triangle"/>
          </a:ln>
        </p:spPr>
      </p:sp>
      <p:sp>
        <p:nvSpPr>
          <p:cNvPr id="71" name="Shape 69"/>
          <p:cNvSpPr/>
          <p:nvPr/>
        </p:nvSpPr>
        <p:spPr>
          <a:xfrm>
            <a:off x="6888246" y="3566160"/>
            <a:ext cx="155448" cy="0"/>
          </a:xfrm>
          <a:prstGeom prst="line">
            <a:avLst/>
          </a:prstGeom>
          <a:noFill/>
          <a:ln w="15240">
            <a:solidFill>
              <a:srgbClr val="888888"/>
            </a:solidFill>
            <a:prstDash val="solid"/>
            <a:tailEnd type="triangle"/>
          </a:ln>
        </p:spPr>
      </p:sp>
      <p:sp>
        <p:nvSpPr>
          <p:cNvPr id="72" name="Shape 70"/>
          <p:cNvSpPr/>
          <p:nvPr/>
        </p:nvSpPr>
        <p:spPr>
          <a:xfrm>
            <a:off x="7061982" y="1170432"/>
            <a:ext cx="2011680" cy="402336"/>
          </a:xfrm>
          <a:prstGeom prst="rect">
            <a:avLst/>
          </a:prstGeom>
          <a:solidFill>
            <a:srgbClr val="4A0A6E"/>
          </a:solidFill>
          <a:ln w="12700">
            <a:solidFill>
              <a:srgbClr val="4A0A6E"/>
            </a:solidFill>
            <a:prstDash val="solid"/>
          </a:ln>
        </p:spPr>
      </p:sp>
      <p:sp>
        <p:nvSpPr>
          <p:cNvPr id="73" name="Text 71"/>
          <p:cNvSpPr/>
          <p:nvPr/>
        </p:nvSpPr>
        <p:spPr>
          <a:xfrm>
            <a:off x="7116846" y="117043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Weighted Sum</a:t>
            </a:r>
            <a:endParaRPr lang="en-US" sz="1000" dirty="0"/>
          </a:p>
        </p:txBody>
      </p:sp>
      <p:sp>
        <p:nvSpPr>
          <p:cNvPr id="74" name="Text 72"/>
          <p:cNvSpPr/>
          <p:nvPr/>
        </p:nvSpPr>
        <p:spPr>
          <a:xfrm>
            <a:off x="7116846" y="137160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S = 100 − Σ(pᵢ×wᵢ)</a:t>
            </a:r>
            <a:endParaRPr lang="en-US" sz="800" dirty="0"/>
          </a:p>
        </p:txBody>
      </p:sp>
      <p:sp>
        <p:nvSpPr>
          <p:cNvPr id="75" name="Shape 73"/>
          <p:cNvSpPr/>
          <p:nvPr/>
        </p:nvSpPr>
        <p:spPr>
          <a:xfrm>
            <a:off x="7061982" y="1719072"/>
            <a:ext cx="2011680" cy="402336"/>
          </a:xfrm>
          <a:prstGeom prst="rect">
            <a:avLst/>
          </a:prstGeom>
          <a:solidFill>
            <a:srgbClr val="4A0A6E"/>
          </a:solidFill>
          <a:ln w="12700">
            <a:solidFill>
              <a:srgbClr val="4A0A6E"/>
            </a:solidFill>
            <a:prstDash val="solid"/>
          </a:ln>
        </p:spPr>
      </p:sp>
      <p:sp>
        <p:nvSpPr>
          <p:cNvPr id="76" name="Text 74"/>
          <p:cNvSpPr/>
          <p:nvPr/>
        </p:nvSpPr>
        <p:spPr>
          <a:xfrm>
            <a:off x="7116846" y="171907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Adaptive Baseline</a:t>
            </a:r>
            <a:endParaRPr lang="en-US" sz="1000" dirty="0"/>
          </a:p>
        </p:txBody>
      </p:sp>
      <p:sp>
        <p:nvSpPr>
          <p:cNvPr id="77" name="Text 75"/>
          <p:cNvSpPr/>
          <p:nvPr/>
        </p:nvSpPr>
        <p:spPr>
          <a:xfrm>
            <a:off x="7116846" y="192024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Calibrate to rider over 5 trips</a:t>
            </a:r>
            <a:endParaRPr lang="en-US" sz="800" dirty="0"/>
          </a:p>
        </p:txBody>
      </p:sp>
      <p:sp>
        <p:nvSpPr>
          <p:cNvPr id="78" name="Shape 76"/>
          <p:cNvSpPr/>
          <p:nvPr/>
        </p:nvSpPr>
        <p:spPr>
          <a:xfrm>
            <a:off x="7061982" y="2267712"/>
            <a:ext cx="2011680" cy="402336"/>
          </a:xfrm>
          <a:prstGeom prst="rect">
            <a:avLst/>
          </a:prstGeom>
          <a:solidFill>
            <a:srgbClr val="6E2A9A"/>
          </a:solidFill>
          <a:ln w="12700">
            <a:solidFill>
              <a:srgbClr val="6E2A9A"/>
            </a:solidFill>
            <a:prstDash val="solid"/>
          </a:ln>
        </p:spPr>
      </p:sp>
      <p:sp>
        <p:nvSpPr>
          <p:cNvPr id="79" name="Text 77"/>
          <p:cNvSpPr/>
          <p:nvPr/>
        </p:nvSpPr>
        <p:spPr>
          <a:xfrm>
            <a:off x="7116846" y="226771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Score = 0–100</a:t>
            </a:r>
            <a:endParaRPr lang="en-US" sz="1000" dirty="0"/>
          </a:p>
        </p:txBody>
      </p:sp>
      <p:sp>
        <p:nvSpPr>
          <p:cNvPr id="80" name="Text 78"/>
          <p:cNvSpPr/>
          <p:nvPr/>
        </p:nvSpPr>
        <p:spPr>
          <a:xfrm>
            <a:off x="7116846" y="246888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Updated every 5 seconds</a:t>
            </a:r>
            <a:endParaRPr lang="en-US" sz="800" dirty="0"/>
          </a:p>
        </p:txBody>
      </p:sp>
      <p:sp>
        <p:nvSpPr>
          <p:cNvPr id="81" name="Shape 79"/>
          <p:cNvSpPr/>
          <p:nvPr/>
        </p:nvSpPr>
        <p:spPr>
          <a:xfrm>
            <a:off x="8067822" y="1572768"/>
            <a:ext cx="0" cy="146304"/>
          </a:xfrm>
          <a:prstGeom prst="line">
            <a:avLst/>
          </a:prstGeom>
          <a:noFill/>
          <a:ln w="12700">
            <a:solidFill>
              <a:srgbClr val="888888"/>
            </a:solidFill>
            <a:prstDash val="solid"/>
            <a:tailEnd type="triangle"/>
          </a:ln>
        </p:spPr>
      </p:sp>
      <p:sp>
        <p:nvSpPr>
          <p:cNvPr id="82" name="Shape 80"/>
          <p:cNvSpPr/>
          <p:nvPr/>
        </p:nvSpPr>
        <p:spPr>
          <a:xfrm>
            <a:off x="8067822" y="2121408"/>
            <a:ext cx="0" cy="146304"/>
          </a:xfrm>
          <a:prstGeom prst="line">
            <a:avLst/>
          </a:prstGeom>
          <a:noFill/>
          <a:ln w="12700">
            <a:solidFill>
              <a:srgbClr val="888888"/>
            </a:solidFill>
            <a:prstDash val="solid"/>
            <a:tailEnd type="triangle"/>
          </a:ln>
        </p:spPr>
      </p:sp>
      <p:sp>
        <p:nvSpPr>
          <p:cNvPr id="83" name="Shape 81"/>
          <p:cNvSpPr/>
          <p:nvPr/>
        </p:nvSpPr>
        <p:spPr>
          <a:xfrm>
            <a:off x="7061982" y="2816352"/>
            <a:ext cx="2011680" cy="402336"/>
          </a:xfrm>
          <a:prstGeom prst="rect">
            <a:avLst/>
          </a:prstGeom>
          <a:solidFill>
            <a:srgbClr val="2D0A5E"/>
          </a:solidFill>
          <a:ln w="12700">
            <a:solidFill>
              <a:srgbClr val="2D0A5E"/>
            </a:solidFill>
            <a:prstDash val="solid"/>
          </a:ln>
        </p:spPr>
      </p:sp>
      <p:sp>
        <p:nvSpPr>
          <p:cNvPr id="84" name="Text 82"/>
          <p:cNvSpPr/>
          <p:nvPr/>
        </p:nvSpPr>
        <p:spPr>
          <a:xfrm>
            <a:off x="7116846" y="281635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BLE → Rider App</a:t>
            </a:r>
            <a:endParaRPr lang="en-US" sz="1000" dirty="0"/>
          </a:p>
        </p:txBody>
      </p:sp>
      <p:sp>
        <p:nvSpPr>
          <p:cNvPr id="85" name="Text 83"/>
          <p:cNvSpPr/>
          <p:nvPr/>
        </p:nvSpPr>
        <p:spPr>
          <a:xfrm>
            <a:off x="7116846" y="301752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Live score + trip summary</a:t>
            </a:r>
            <a:endParaRPr lang="en-US" sz="800" dirty="0"/>
          </a:p>
        </p:txBody>
      </p:sp>
      <p:sp>
        <p:nvSpPr>
          <p:cNvPr id="86" name="Shape 84"/>
          <p:cNvSpPr/>
          <p:nvPr/>
        </p:nvSpPr>
        <p:spPr>
          <a:xfrm>
            <a:off x="7061982" y="3364992"/>
            <a:ext cx="2011680" cy="402336"/>
          </a:xfrm>
          <a:prstGeom prst="rect">
            <a:avLst/>
          </a:prstGeom>
          <a:solidFill>
            <a:srgbClr val="2D0A5E"/>
          </a:solidFill>
          <a:ln w="12700">
            <a:solidFill>
              <a:srgbClr val="2D0A5E"/>
            </a:solidFill>
            <a:prstDash val="solid"/>
          </a:ln>
        </p:spPr>
      </p:sp>
      <p:sp>
        <p:nvSpPr>
          <p:cNvPr id="87" name="Text 85"/>
          <p:cNvSpPr/>
          <p:nvPr/>
        </p:nvSpPr>
        <p:spPr>
          <a:xfrm>
            <a:off x="7116846" y="3364992"/>
            <a:ext cx="1920240" cy="209215"/>
          </a:xfrm>
          <a:prstGeom prst="rect">
            <a:avLst/>
          </a:prstGeom>
          <a:noFill/>
          <a:ln/>
        </p:spPr>
        <p:txBody>
          <a:bodyPr wrap="square" rtlCol="0" anchor="b"/>
          <a:lstStyle/>
          <a:p>
            <a:pPr marL="0" indent="0">
              <a:buNone/>
            </a:pPr>
            <a:r>
              <a:rPr lang="en-US" sz="1000" b="1" dirty="0">
                <a:solidFill>
                  <a:srgbClr val="FFFFFF"/>
                </a:solidFill>
                <a:latin typeface="Calibri" pitchFamily="34" charset="0"/>
                <a:ea typeface="Calibri" pitchFamily="34" charset="-122"/>
                <a:cs typeface="Calibri" pitchFamily="34" charset="-120"/>
              </a:rPr>
              <a:t>MQTT → Cloud</a:t>
            </a:r>
            <a:endParaRPr lang="en-US" sz="1000" dirty="0"/>
          </a:p>
        </p:txBody>
      </p:sp>
      <p:sp>
        <p:nvSpPr>
          <p:cNvPr id="88" name="Text 86"/>
          <p:cNvSpPr/>
          <p:nvPr/>
        </p:nvSpPr>
        <p:spPr>
          <a:xfrm>
            <a:off x="7116846" y="3566160"/>
            <a:ext cx="1920240" cy="201168"/>
          </a:xfrm>
          <a:prstGeom prst="rect">
            <a:avLst/>
          </a:prstGeom>
          <a:noFill/>
          <a:ln/>
        </p:spPr>
        <p:txBody>
          <a:bodyPr wrap="square" rtlCol="0" anchor="t"/>
          <a:lstStyle/>
          <a:p>
            <a:pPr marL="0" indent="0">
              <a:buNone/>
            </a:pPr>
            <a:r>
              <a:rPr lang="en-US" sz="800" dirty="0">
                <a:solidFill>
                  <a:srgbClr val="CCEECC"/>
                </a:solidFill>
                <a:latin typeface="Calibri" pitchFamily="34" charset="0"/>
                <a:ea typeface="Calibri" pitchFamily="34" charset="-122"/>
                <a:cs typeface="Calibri" pitchFamily="34" charset="-120"/>
              </a:rPr>
              <a:t>Log, insurance, fleet dash</a:t>
            </a:r>
            <a:endParaRPr lang="en-US" sz="800" dirty="0"/>
          </a:p>
        </p:txBody>
      </p:sp>
      <p:sp>
        <p:nvSpPr>
          <p:cNvPr id="89" name="Shape 87"/>
          <p:cNvSpPr/>
          <p:nvPr/>
        </p:nvSpPr>
        <p:spPr>
          <a:xfrm>
            <a:off x="8067822" y="2670048"/>
            <a:ext cx="0" cy="146304"/>
          </a:xfrm>
          <a:prstGeom prst="line">
            <a:avLst/>
          </a:prstGeom>
          <a:noFill/>
          <a:ln w="12700">
            <a:solidFill>
              <a:srgbClr val="888888"/>
            </a:solidFill>
            <a:prstDash val="solid"/>
            <a:tailEnd type="triangle"/>
          </a:ln>
        </p:spPr>
      </p:sp>
      <p:sp>
        <p:nvSpPr>
          <p:cNvPr id="90" name="Shape 88"/>
          <p:cNvSpPr/>
          <p:nvPr/>
        </p:nvSpPr>
        <p:spPr>
          <a:xfrm>
            <a:off x="8067822" y="3218688"/>
            <a:ext cx="0" cy="146304"/>
          </a:xfrm>
          <a:prstGeom prst="line">
            <a:avLst/>
          </a:prstGeom>
          <a:noFill/>
          <a:ln w="12700">
            <a:solidFill>
              <a:srgbClr val="888888"/>
            </a:solidFill>
            <a:prstDash val="solid"/>
            <a:tailEnd type="triangle"/>
          </a:ln>
        </p:spPr>
      </p:sp>
      <p:sp>
        <p:nvSpPr>
          <p:cNvPr id="91" name="Shape 89"/>
          <p:cNvSpPr/>
          <p:nvPr/>
        </p:nvSpPr>
        <p:spPr>
          <a:xfrm>
            <a:off x="7061982" y="3913632"/>
            <a:ext cx="2011680" cy="329184"/>
          </a:xfrm>
          <a:prstGeom prst="rect">
            <a:avLst/>
          </a:prstGeom>
          <a:solidFill>
            <a:srgbClr val="AA2222"/>
          </a:solidFill>
          <a:ln w="12700">
            <a:solidFill>
              <a:srgbClr val="AA2222"/>
            </a:solidFill>
            <a:prstDash val="solid"/>
          </a:ln>
        </p:spPr>
      </p:sp>
      <p:sp>
        <p:nvSpPr>
          <p:cNvPr id="92" name="Text 90"/>
          <p:cNvSpPr/>
          <p:nvPr/>
        </p:nvSpPr>
        <p:spPr>
          <a:xfrm>
            <a:off x="7061982" y="3913632"/>
            <a:ext cx="201168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Score &lt; 40 → Buzzer Alert</a:t>
            </a:r>
            <a:endParaRPr lang="en-US" sz="900" dirty="0"/>
          </a:p>
        </p:txBody>
      </p:sp>
      <p:sp>
        <p:nvSpPr>
          <p:cNvPr id="93" name="Shape 91"/>
          <p:cNvSpPr/>
          <p:nvPr/>
        </p:nvSpPr>
        <p:spPr>
          <a:xfrm>
            <a:off x="8067822" y="3767328"/>
            <a:ext cx="0" cy="146304"/>
          </a:xfrm>
          <a:prstGeom prst="line">
            <a:avLst/>
          </a:prstGeom>
          <a:noFill/>
          <a:ln w="12700">
            <a:solidFill>
              <a:srgbClr val="888888"/>
            </a:solidFill>
            <a:prstDash val="solid"/>
            <a:tailEnd type="triangl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Major Risks &amp; Mitigation</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Shape 5"/>
          <p:cNvSpPr/>
          <p:nvPr/>
        </p:nvSpPr>
        <p:spPr>
          <a:xfrm>
            <a:off x="365760" y="749808"/>
            <a:ext cx="8412480" cy="658368"/>
          </a:xfrm>
          <a:prstGeom prst="rect">
            <a:avLst/>
          </a:prstGeom>
          <a:solidFill>
            <a:srgbClr val="F8F8F8"/>
          </a:solidFill>
          <a:ln w="12700">
            <a:solidFill>
              <a:srgbClr val="DDDDDD"/>
            </a:solidFill>
            <a:prstDash val="solid"/>
          </a:ln>
        </p:spPr>
      </p:sp>
      <p:sp>
        <p:nvSpPr>
          <p:cNvPr id="8" name="Shape 6"/>
          <p:cNvSpPr/>
          <p:nvPr/>
        </p:nvSpPr>
        <p:spPr>
          <a:xfrm>
            <a:off x="365760" y="749808"/>
            <a:ext cx="91440" cy="658368"/>
          </a:xfrm>
          <a:prstGeom prst="rect">
            <a:avLst/>
          </a:prstGeom>
          <a:solidFill>
            <a:srgbClr val="CC3333"/>
          </a:solidFill>
          <a:ln w="12700">
            <a:solidFill>
              <a:srgbClr val="CC3333"/>
            </a:solidFill>
            <a:prstDash val="solid"/>
          </a:ln>
        </p:spPr>
      </p:sp>
      <p:sp>
        <p:nvSpPr>
          <p:cNvPr id="9" name="Text 7"/>
          <p:cNvSpPr/>
          <p:nvPr/>
        </p:nvSpPr>
        <p:spPr>
          <a:xfrm>
            <a:off x="548640" y="786384"/>
            <a:ext cx="640080" cy="256032"/>
          </a:xfrm>
          <a:prstGeom prst="rect">
            <a:avLst/>
          </a:prstGeom>
          <a:noFill/>
          <a:ln/>
        </p:spPr>
        <p:txBody>
          <a:bodyPr wrap="square" rtlCol="0" anchor="ctr"/>
          <a:lstStyle/>
          <a:p>
            <a:pPr marL="0" indent="0">
              <a:buNone/>
            </a:pPr>
            <a:r>
              <a:rPr lang="en-US" sz="900" b="1" dirty="0">
                <a:solidFill>
                  <a:srgbClr val="888888"/>
                </a:solidFill>
                <a:latin typeface="Calibri" pitchFamily="34" charset="0"/>
                <a:ea typeface="Calibri" pitchFamily="34" charset="-122"/>
                <a:cs typeface="Calibri" pitchFamily="34" charset="-120"/>
              </a:rPr>
              <a:t>RISK:</a:t>
            </a:r>
            <a:endParaRPr lang="en-US" sz="900" dirty="0"/>
          </a:p>
        </p:txBody>
      </p:sp>
      <p:sp>
        <p:nvSpPr>
          <p:cNvPr id="10" name="Text 8"/>
          <p:cNvSpPr/>
          <p:nvPr/>
        </p:nvSpPr>
        <p:spPr>
          <a:xfrm>
            <a:off x="1188720" y="768096"/>
            <a:ext cx="4389120" cy="292608"/>
          </a:xfrm>
          <a:prstGeom prst="rect">
            <a:avLst/>
          </a:prstGeom>
          <a:noFill/>
          <a:ln/>
        </p:spPr>
        <p:txBody>
          <a:bodyPr wrap="square"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IMU drift over long rides</a:t>
            </a:r>
            <a:endParaRPr lang="en-US" sz="1200" dirty="0"/>
          </a:p>
        </p:txBody>
      </p:sp>
      <p:sp>
        <p:nvSpPr>
          <p:cNvPr id="11" name="Shape 9"/>
          <p:cNvSpPr/>
          <p:nvPr/>
        </p:nvSpPr>
        <p:spPr>
          <a:xfrm>
            <a:off x="5760720" y="859536"/>
            <a:ext cx="731520" cy="237744"/>
          </a:xfrm>
          <a:prstGeom prst="roundRect">
            <a:avLst>
              <a:gd name="adj" fmla="val 19231"/>
            </a:avLst>
          </a:prstGeom>
          <a:solidFill>
            <a:srgbClr val="CC3333"/>
          </a:solidFill>
          <a:ln w="12700">
            <a:solidFill>
              <a:srgbClr val="CC3333"/>
            </a:solidFill>
            <a:prstDash val="solid"/>
          </a:ln>
        </p:spPr>
      </p:sp>
      <p:sp>
        <p:nvSpPr>
          <p:cNvPr id="12" name="Text 10"/>
          <p:cNvSpPr/>
          <p:nvPr/>
        </p:nvSpPr>
        <p:spPr>
          <a:xfrm>
            <a:off x="5760720" y="859536"/>
            <a:ext cx="731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3" name="Text 11"/>
          <p:cNvSpPr/>
          <p:nvPr/>
        </p:nvSpPr>
        <p:spPr>
          <a:xfrm>
            <a:off x="548640" y="1088136"/>
            <a:ext cx="8046720" cy="274320"/>
          </a:xfrm>
          <a:prstGeom prst="rect">
            <a:avLst/>
          </a:prstGeom>
          <a:noFill/>
          <a:ln/>
        </p:spPr>
        <p:txBody>
          <a:bodyPr wrap="square" rtlCol="0" anchor="t"/>
          <a:lstStyle/>
          <a:p>
            <a:pPr marL="0" indent="0">
              <a:buNone/>
            </a:pPr>
            <a:r>
              <a:rPr lang="en-US" sz="1100" dirty="0">
                <a:solidFill>
                  <a:srgbClr val="226633"/>
                </a:solidFill>
                <a:latin typeface="Calibri" pitchFamily="34" charset="0"/>
                <a:ea typeface="Calibri" pitchFamily="34" charset="-122"/>
                <a:cs typeface="Calibri" pitchFamily="34" charset="-120"/>
              </a:rPr>
              <a:t>✓  Kalman filter with periodic GPS re-calibration every 60s</a:t>
            </a:r>
            <a:endParaRPr lang="en-US" sz="1100" dirty="0"/>
          </a:p>
        </p:txBody>
      </p:sp>
      <p:sp>
        <p:nvSpPr>
          <p:cNvPr id="14" name="Shape 12"/>
          <p:cNvSpPr/>
          <p:nvPr/>
        </p:nvSpPr>
        <p:spPr>
          <a:xfrm>
            <a:off x="365760" y="1517904"/>
            <a:ext cx="8412480" cy="658368"/>
          </a:xfrm>
          <a:prstGeom prst="rect">
            <a:avLst/>
          </a:prstGeom>
          <a:solidFill>
            <a:srgbClr val="FFFFFF"/>
          </a:solidFill>
          <a:ln w="12700">
            <a:solidFill>
              <a:srgbClr val="DDDDDD"/>
            </a:solidFill>
            <a:prstDash val="solid"/>
          </a:ln>
        </p:spPr>
      </p:sp>
      <p:sp>
        <p:nvSpPr>
          <p:cNvPr id="15" name="Shape 13"/>
          <p:cNvSpPr/>
          <p:nvPr/>
        </p:nvSpPr>
        <p:spPr>
          <a:xfrm>
            <a:off x="365760" y="1517904"/>
            <a:ext cx="91440" cy="658368"/>
          </a:xfrm>
          <a:prstGeom prst="rect">
            <a:avLst/>
          </a:prstGeom>
          <a:solidFill>
            <a:srgbClr val="E07700"/>
          </a:solidFill>
          <a:ln w="12700">
            <a:solidFill>
              <a:srgbClr val="E07700"/>
            </a:solidFill>
            <a:prstDash val="solid"/>
          </a:ln>
        </p:spPr>
      </p:sp>
      <p:sp>
        <p:nvSpPr>
          <p:cNvPr id="16" name="Text 14"/>
          <p:cNvSpPr/>
          <p:nvPr/>
        </p:nvSpPr>
        <p:spPr>
          <a:xfrm>
            <a:off x="548640" y="1554480"/>
            <a:ext cx="640080" cy="256032"/>
          </a:xfrm>
          <a:prstGeom prst="rect">
            <a:avLst/>
          </a:prstGeom>
          <a:noFill/>
          <a:ln/>
        </p:spPr>
        <p:txBody>
          <a:bodyPr wrap="square" rtlCol="0" anchor="ctr"/>
          <a:lstStyle/>
          <a:p>
            <a:pPr marL="0" indent="0">
              <a:buNone/>
            </a:pPr>
            <a:r>
              <a:rPr lang="en-US" sz="900" b="1" dirty="0">
                <a:solidFill>
                  <a:srgbClr val="888888"/>
                </a:solidFill>
                <a:latin typeface="Calibri" pitchFamily="34" charset="0"/>
                <a:ea typeface="Calibri" pitchFamily="34" charset="-122"/>
                <a:cs typeface="Calibri" pitchFamily="34" charset="-120"/>
              </a:rPr>
              <a:t>RISK:</a:t>
            </a:r>
            <a:endParaRPr lang="en-US" sz="900" dirty="0"/>
          </a:p>
        </p:txBody>
      </p:sp>
      <p:sp>
        <p:nvSpPr>
          <p:cNvPr id="17" name="Text 15"/>
          <p:cNvSpPr/>
          <p:nvPr/>
        </p:nvSpPr>
        <p:spPr>
          <a:xfrm>
            <a:off x="1188720" y="1536192"/>
            <a:ext cx="4389120" cy="292608"/>
          </a:xfrm>
          <a:prstGeom prst="rect">
            <a:avLst/>
          </a:prstGeom>
          <a:noFill/>
          <a:ln/>
        </p:spPr>
        <p:txBody>
          <a:bodyPr wrap="square"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False positives on speed bumps / potholes</a:t>
            </a:r>
            <a:endParaRPr lang="en-US" sz="1200" dirty="0"/>
          </a:p>
        </p:txBody>
      </p:sp>
      <p:sp>
        <p:nvSpPr>
          <p:cNvPr id="18" name="Shape 16"/>
          <p:cNvSpPr/>
          <p:nvPr/>
        </p:nvSpPr>
        <p:spPr>
          <a:xfrm>
            <a:off x="5760720" y="1627632"/>
            <a:ext cx="731520" cy="237744"/>
          </a:xfrm>
          <a:prstGeom prst="roundRect">
            <a:avLst>
              <a:gd name="adj" fmla="val 19231"/>
            </a:avLst>
          </a:prstGeom>
          <a:solidFill>
            <a:srgbClr val="E07700"/>
          </a:solidFill>
          <a:ln w="12700">
            <a:solidFill>
              <a:srgbClr val="E07700"/>
            </a:solidFill>
            <a:prstDash val="solid"/>
          </a:ln>
        </p:spPr>
      </p:sp>
      <p:sp>
        <p:nvSpPr>
          <p:cNvPr id="19" name="Text 17"/>
          <p:cNvSpPr/>
          <p:nvPr/>
        </p:nvSpPr>
        <p:spPr>
          <a:xfrm>
            <a:off x="5760720" y="1627632"/>
            <a:ext cx="731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0" name="Text 18"/>
          <p:cNvSpPr/>
          <p:nvPr/>
        </p:nvSpPr>
        <p:spPr>
          <a:xfrm>
            <a:off x="548640" y="1856232"/>
            <a:ext cx="8046720" cy="274320"/>
          </a:xfrm>
          <a:prstGeom prst="rect">
            <a:avLst/>
          </a:prstGeom>
          <a:noFill/>
          <a:ln/>
        </p:spPr>
        <p:txBody>
          <a:bodyPr wrap="square" rtlCol="0" anchor="t"/>
          <a:lstStyle/>
          <a:p>
            <a:pPr marL="0" indent="0">
              <a:buNone/>
            </a:pPr>
            <a:r>
              <a:rPr lang="en-US" sz="1100" dirty="0">
                <a:solidFill>
                  <a:srgbClr val="226633"/>
                </a:solidFill>
                <a:latin typeface="Calibri" pitchFamily="34" charset="0"/>
                <a:ea typeface="Calibri" pitchFamily="34" charset="-122"/>
                <a:cs typeface="Calibri" pitchFamily="34" charset="-120"/>
              </a:rPr>
              <a:t>✓  Barometer + accelerometer Z-axis filter distinguishes road anomalies from braking</a:t>
            </a:r>
            <a:endParaRPr lang="en-US" sz="1100" dirty="0"/>
          </a:p>
        </p:txBody>
      </p:sp>
      <p:sp>
        <p:nvSpPr>
          <p:cNvPr id="21" name="Shape 19"/>
          <p:cNvSpPr/>
          <p:nvPr/>
        </p:nvSpPr>
        <p:spPr>
          <a:xfrm>
            <a:off x="365760" y="2286000"/>
            <a:ext cx="8412480" cy="658368"/>
          </a:xfrm>
          <a:prstGeom prst="rect">
            <a:avLst/>
          </a:prstGeom>
          <a:solidFill>
            <a:srgbClr val="F8F8F8"/>
          </a:solidFill>
          <a:ln w="12700">
            <a:solidFill>
              <a:srgbClr val="DDDDDD"/>
            </a:solidFill>
            <a:prstDash val="solid"/>
          </a:ln>
        </p:spPr>
      </p:sp>
      <p:sp>
        <p:nvSpPr>
          <p:cNvPr id="22" name="Shape 20"/>
          <p:cNvSpPr/>
          <p:nvPr/>
        </p:nvSpPr>
        <p:spPr>
          <a:xfrm>
            <a:off x="365760" y="2286000"/>
            <a:ext cx="91440" cy="658368"/>
          </a:xfrm>
          <a:prstGeom prst="rect">
            <a:avLst/>
          </a:prstGeom>
          <a:solidFill>
            <a:srgbClr val="E07700"/>
          </a:solidFill>
          <a:ln w="12700">
            <a:solidFill>
              <a:srgbClr val="E07700"/>
            </a:solidFill>
            <a:prstDash val="solid"/>
          </a:ln>
        </p:spPr>
      </p:sp>
      <p:sp>
        <p:nvSpPr>
          <p:cNvPr id="23" name="Text 21"/>
          <p:cNvSpPr/>
          <p:nvPr/>
        </p:nvSpPr>
        <p:spPr>
          <a:xfrm>
            <a:off x="548640" y="2322576"/>
            <a:ext cx="640080" cy="256032"/>
          </a:xfrm>
          <a:prstGeom prst="rect">
            <a:avLst/>
          </a:prstGeom>
          <a:noFill/>
          <a:ln/>
        </p:spPr>
        <p:txBody>
          <a:bodyPr wrap="square" rtlCol="0" anchor="ctr"/>
          <a:lstStyle/>
          <a:p>
            <a:pPr marL="0" indent="0">
              <a:buNone/>
            </a:pPr>
            <a:r>
              <a:rPr lang="en-US" sz="900" b="1" dirty="0">
                <a:solidFill>
                  <a:srgbClr val="888888"/>
                </a:solidFill>
                <a:latin typeface="Calibri" pitchFamily="34" charset="0"/>
                <a:ea typeface="Calibri" pitchFamily="34" charset="-122"/>
                <a:cs typeface="Calibri" pitchFamily="34" charset="-120"/>
              </a:rPr>
              <a:t>RISK:</a:t>
            </a:r>
            <a:endParaRPr lang="en-US" sz="900" dirty="0"/>
          </a:p>
        </p:txBody>
      </p:sp>
      <p:sp>
        <p:nvSpPr>
          <p:cNvPr id="24" name="Text 22"/>
          <p:cNvSpPr/>
          <p:nvPr/>
        </p:nvSpPr>
        <p:spPr>
          <a:xfrm>
            <a:off x="1188720" y="2304288"/>
            <a:ext cx="4389120" cy="292608"/>
          </a:xfrm>
          <a:prstGeom prst="rect">
            <a:avLst/>
          </a:prstGeom>
          <a:noFill/>
          <a:ln/>
        </p:spPr>
        <p:txBody>
          <a:bodyPr wrap="square"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GPS signal loss in urban canyons</a:t>
            </a:r>
            <a:endParaRPr lang="en-US" sz="1200" dirty="0"/>
          </a:p>
        </p:txBody>
      </p:sp>
      <p:sp>
        <p:nvSpPr>
          <p:cNvPr id="25" name="Shape 23"/>
          <p:cNvSpPr/>
          <p:nvPr/>
        </p:nvSpPr>
        <p:spPr>
          <a:xfrm>
            <a:off x="5760720" y="2395728"/>
            <a:ext cx="731520" cy="237744"/>
          </a:xfrm>
          <a:prstGeom prst="roundRect">
            <a:avLst>
              <a:gd name="adj" fmla="val 19231"/>
            </a:avLst>
          </a:prstGeom>
          <a:solidFill>
            <a:srgbClr val="E07700"/>
          </a:solidFill>
          <a:ln w="12700">
            <a:solidFill>
              <a:srgbClr val="E07700"/>
            </a:solidFill>
            <a:prstDash val="solid"/>
          </a:ln>
        </p:spPr>
      </p:sp>
      <p:sp>
        <p:nvSpPr>
          <p:cNvPr id="26" name="Text 24"/>
          <p:cNvSpPr/>
          <p:nvPr/>
        </p:nvSpPr>
        <p:spPr>
          <a:xfrm>
            <a:off x="5760720" y="2395728"/>
            <a:ext cx="731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7" name="Text 25"/>
          <p:cNvSpPr/>
          <p:nvPr/>
        </p:nvSpPr>
        <p:spPr>
          <a:xfrm>
            <a:off x="548640" y="2624328"/>
            <a:ext cx="8046720" cy="274320"/>
          </a:xfrm>
          <a:prstGeom prst="rect">
            <a:avLst/>
          </a:prstGeom>
          <a:noFill/>
          <a:ln/>
        </p:spPr>
        <p:txBody>
          <a:bodyPr wrap="square" rtlCol="0" anchor="t"/>
          <a:lstStyle/>
          <a:p>
            <a:pPr marL="0" indent="0">
              <a:buNone/>
            </a:pPr>
            <a:r>
              <a:rPr lang="en-US" sz="1100" dirty="0">
                <a:solidFill>
                  <a:srgbClr val="226633"/>
                </a:solidFill>
                <a:latin typeface="Calibri" pitchFamily="34" charset="0"/>
                <a:ea typeface="Calibri" pitchFamily="34" charset="-122"/>
                <a:cs typeface="Calibri" pitchFamily="34" charset="-120"/>
              </a:rPr>
              <a:t>✓  Dead reckoning using IMU integration maintains scoring continuity for up to 30s</a:t>
            </a:r>
            <a:endParaRPr lang="en-US" sz="1100" dirty="0"/>
          </a:p>
        </p:txBody>
      </p:sp>
      <p:sp>
        <p:nvSpPr>
          <p:cNvPr id="28" name="Shape 26"/>
          <p:cNvSpPr/>
          <p:nvPr/>
        </p:nvSpPr>
        <p:spPr>
          <a:xfrm>
            <a:off x="365760" y="3054096"/>
            <a:ext cx="8412480" cy="658368"/>
          </a:xfrm>
          <a:prstGeom prst="rect">
            <a:avLst/>
          </a:prstGeom>
          <a:solidFill>
            <a:srgbClr val="FFFFFF"/>
          </a:solidFill>
          <a:ln w="12700">
            <a:solidFill>
              <a:srgbClr val="DDDDDD"/>
            </a:solidFill>
            <a:prstDash val="solid"/>
          </a:ln>
        </p:spPr>
      </p:sp>
      <p:sp>
        <p:nvSpPr>
          <p:cNvPr id="29" name="Shape 27"/>
          <p:cNvSpPr/>
          <p:nvPr/>
        </p:nvSpPr>
        <p:spPr>
          <a:xfrm>
            <a:off x="365760" y="3054096"/>
            <a:ext cx="91440" cy="658368"/>
          </a:xfrm>
          <a:prstGeom prst="rect">
            <a:avLst/>
          </a:prstGeom>
          <a:solidFill>
            <a:srgbClr val="0A8C4E"/>
          </a:solidFill>
          <a:ln w="12700">
            <a:solidFill>
              <a:srgbClr val="0A8C4E"/>
            </a:solidFill>
            <a:prstDash val="solid"/>
          </a:ln>
        </p:spPr>
      </p:sp>
      <p:sp>
        <p:nvSpPr>
          <p:cNvPr id="30" name="Text 28"/>
          <p:cNvSpPr/>
          <p:nvPr/>
        </p:nvSpPr>
        <p:spPr>
          <a:xfrm>
            <a:off x="548640" y="3090672"/>
            <a:ext cx="640080" cy="256032"/>
          </a:xfrm>
          <a:prstGeom prst="rect">
            <a:avLst/>
          </a:prstGeom>
          <a:noFill/>
          <a:ln/>
        </p:spPr>
        <p:txBody>
          <a:bodyPr wrap="square" rtlCol="0" anchor="ctr"/>
          <a:lstStyle/>
          <a:p>
            <a:pPr marL="0" indent="0">
              <a:buNone/>
            </a:pPr>
            <a:r>
              <a:rPr lang="en-US" sz="900" b="1" dirty="0">
                <a:solidFill>
                  <a:srgbClr val="888888"/>
                </a:solidFill>
                <a:latin typeface="Calibri" pitchFamily="34" charset="0"/>
                <a:ea typeface="Calibri" pitchFamily="34" charset="-122"/>
                <a:cs typeface="Calibri" pitchFamily="34" charset="-120"/>
              </a:rPr>
              <a:t>RISK:</a:t>
            </a:r>
            <a:endParaRPr lang="en-US" sz="900" dirty="0"/>
          </a:p>
        </p:txBody>
      </p:sp>
      <p:sp>
        <p:nvSpPr>
          <p:cNvPr id="31" name="Text 29"/>
          <p:cNvSpPr/>
          <p:nvPr/>
        </p:nvSpPr>
        <p:spPr>
          <a:xfrm>
            <a:off x="1188720" y="3072384"/>
            <a:ext cx="4389120" cy="292608"/>
          </a:xfrm>
          <a:prstGeom prst="rect">
            <a:avLst/>
          </a:prstGeom>
          <a:noFill/>
          <a:ln/>
        </p:spPr>
        <p:txBody>
          <a:bodyPr wrap="square"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Battery drain on ESP32</a:t>
            </a:r>
            <a:endParaRPr lang="en-US" sz="1200" dirty="0"/>
          </a:p>
        </p:txBody>
      </p:sp>
      <p:sp>
        <p:nvSpPr>
          <p:cNvPr id="32" name="Shape 30"/>
          <p:cNvSpPr/>
          <p:nvPr/>
        </p:nvSpPr>
        <p:spPr>
          <a:xfrm>
            <a:off x="5760720" y="3163824"/>
            <a:ext cx="731520" cy="237744"/>
          </a:xfrm>
          <a:prstGeom prst="roundRect">
            <a:avLst>
              <a:gd name="adj" fmla="val 19231"/>
            </a:avLst>
          </a:prstGeom>
          <a:solidFill>
            <a:srgbClr val="0A8C4E"/>
          </a:solidFill>
          <a:ln w="12700">
            <a:solidFill>
              <a:srgbClr val="0A8C4E"/>
            </a:solidFill>
            <a:prstDash val="solid"/>
          </a:ln>
        </p:spPr>
      </p:sp>
      <p:sp>
        <p:nvSpPr>
          <p:cNvPr id="33" name="Text 31"/>
          <p:cNvSpPr/>
          <p:nvPr/>
        </p:nvSpPr>
        <p:spPr>
          <a:xfrm>
            <a:off x="5760720" y="3163824"/>
            <a:ext cx="731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34" name="Text 32"/>
          <p:cNvSpPr/>
          <p:nvPr/>
        </p:nvSpPr>
        <p:spPr>
          <a:xfrm>
            <a:off x="548640" y="3392424"/>
            <a:ext cx="8046720" cy="274320"/>
          </a:xfrm>
          <a:prstGeom prst="rect">
            <a:avLst/>
          </a:prstGeom>
          <a:noFill/>
          <a:ln/>
        </p:spPr>
        <p:txBody>
          <a:bodyPr wrap="square" rtlCol="0" anchor="t"/>
          <a:lstStyle/>
          <a:p>
            <a:pPr marL="0" indent="0">
              <a:buNone/>
            </a:pPr>
            <a:r>
              <a:rPr lang="en-US" sz="1100" dirty="0">
                <a:solidFill>
                  <a:srgbClr val="226633"/>
                </a:solidFill>
                <a:latin typeface="Calibri" pitchFamily="34" charset="0"/>
                <a:ea typeface="Calibri" pitchFamily="34" charset="-122"/>
                <a:cs typeface="Calibri" pitchFamily="34" charset="-120"/>
              </a:rPr>
              <a:t>✓  Deep sleep mode between events; duty cycle reduces power to &lt;80mA average</a:t>
            </a:r>
            <a:endParaRPr lang="en-US" sz="1100" dirty="0"/>
          </a:p>
        </p:txBody>
      </p:sp>
      <p:sp>
        <p:nvSpPr>
          <p:cNvPr id="35" name="Shape 33"/>
          <p:cNvSpPr/>
          <p:nvPr/>
        </p:nvSpPr>
        <p:spPr>
          <a:xfrm>
            <a:off x="365760" y="3822192"/>
            <a:ext cx="8412480" cy="658368"/>
          </a:xfrm>
          <a:prstGeom prst="rect">
            <a:avLst/>
          </a:prstGeom>
          <a:solidFill>
            <a:srgbClr val="F8F8F8"/>
          </a:solidFill>
          <a:ln w="12700">
            <a:solidFill>
              <a:srgbClr val="DDDDDD"/>
            </a:solidFill>
            <a:prstDash val="solid"/>
          </a:ln>
        </p:spPr>
      </p:sp>
      <p:sp>
        <p:nvSpPr>
          <p:cNvPr id="36" name="Shape 34"/>
          <p:cNvSpPr/>
          <p:nvPr/>
        </p:nvSpPr>
        <p:spPr>
          <a:xfrm>
            <a:off x="365760" y="3822192"/>
            <a:ext cx="91440" cy="658368"/>
          </a:xfrm>
          <a:prstGeom prst="rect">
            <a:avLst/>
          </a:prstGeom>
          <a:solidFill>
            <a:srgbClr val="CC3333"/>
          </a:solidFill>
          <a:ln w="12700">
            <a:solidFill>
              <a:srgbClr val="CC3333"/>
            </a:solidFill>
            <a:prstDash val="solid"/>
          </a:ln>
        </p:spPr>
      </p:sp>
      <p:sp>
        <p:nvSpPr>
          <p:cNvPr id="37" name="Text 35"/>
          <p:cNvSpPr/>
          <p:nvPr/>
        </p:nvSpPr>
        <p:spPr>
          <a:xfrm>
            <a:off x="548640" y="3858768"/>
            <a:ext cx="640080" cy="256032"/>
          </a:xfrm>
          <a:prstGeom prst="rect">
            <a:avLst/>
          </a:prstGeom>
          <a:noFill/>
          <a:ln/>
        </p:spPr>
        <p:txBody>
          <a:bodyPr wrap="square" rtlCol="0" anchor="ctr"/>
          <a:lstStyle/>
          <a:p>
            <a:pPr marL="0" indent="0">
              <a:buNone/>
            </a:pPr>
            <a:r>
              <a:rPr lang="en-US" sz="900" b="1" dirty="0">
                <a:solidFill>
                  <a:srgbClr val="888888"/>
                </a:solidFill>
                <a:latin typeface="Calibri" pitchFamily="34" charset="0"/>
                <a:ea typeface="Calibri" pitchFamily="34" charset="-122"/>
                <a:cs typeface="Calibri" pitchFamily="34" charset="-120"/>
              </a:rPr>
              <a:t>RISK:</a:t>
            </a:r>
            <a:endParaRPr lang="en-US" sz="900" dirty="0"/>
          </a:p>
        </p:txBody>
      </p:sp>
      <p:sp>
        <p:nvSpPr>
          <p:cNvPr id="38" name="Text 36"/>
          <p:cNvSpPr/>
          <p:nvPr/>
        </p:nvSpPr>
        <p:spPr>
          <a:xfrm>
            <a:off x="1188720" y="3840480"/>
            <a:ext cx="4389120" cy="292608"/>
          </a:xfrm>
          <a:prstGeom prst="rect">
            <a:avLst/>
          </a:prstGeom>
          <a:noFill/>
          <a:ln/>
        </p:spPr>
        <p:txBody>
          <a:bodyPr wrap="square"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Rider behavior varies by region/road type</a:t>
            </a:r>
            <a:endParaRPr lang="en-US" sz="1200" dirty="0"/>
          </a:p>
        </p:txBody>
      </p:sp>
      <p:sp>
        <p:nvSpPr>
          <p:cNvPr id="39" name="Shape 37"/>
          <p:cNvSpPr/>
          <p:nvPr/>
        </p:nvSpPr>
        <p:spPr>
          <a:xfrm>
            <a:off x="5760720" y="3931920"/>
            <a:ext cx="731520" cy="237744"/>
          </a:xfrm>
          <a:prstGeom prst="roundRect">
            <a:avLst>
              <a:gd name="adj" fmla="val 19231"/>
            </a:avLst>
          </a:prstGeom>
          <a:solidFill>
            <a:srgbClr val="CC3333"/>
          </a:solidFill>
          <a:ln w="12700">
            <a:solidFill>
              <a:srgbClr val="CC3333"/>
            </a:solidFill>
            <a:prstDash val="solid"/>
          </a:ln>
        </p:spPr>
      </p:sp>
      <p:sp>
        <p:nvSpPr>
          <p:cNvPr id="40" name="Text 38"/>
          <p:cNvSpPr/>
          <p:nvPr/>
        </p:nvSpPr>
        <p:spPr>
          <a:xfrm>
            <a:off x="5760720" y="3931920"/>
            <a:ext cx="731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1" name="Text 39"/>
          <p:cNvSpPr/>
          <p:nvPr/>
        </p:nvSpPr>
        <p:spPr>
          <a:xfrm>
            <a:off x="548640" y="4160520"/>
            <a:ext cx="8046720" cy="274320"/>
          </a:xfrm>
          <a:prstGeom prst="rect">
            <a:avLst/>
          </a:prstGeom>
          <a:noFill/>
          <a:ln/>
        </p:spPr>
        <p:txBody>
          <a:bodyPr wrap="square" rtlCol="0" anchor="t"/>
          <a:lstStyle/>
          <a:p>
            <a:pPr marL="0" indent="0">
              <a:buNone/>
            </a:pPr>
            <a:r>
              <a:rPr lang="en-US" sz="1100" dirty="0">
                <a:solidFill>
                  <a:srgbClr val="226633"/>
                </a:solidFill>
                <a:latin typeface="Calibri" pitchFamily="34" charset="0"/>
                <a:ea typeface="Calibri" pitchFamily="34" charset="-122"/>
                <a:cs typeface="Calibri" pitchFamily="34" charset="-120"/>
              </a:rPr>
              <a:t>✓  Adaptive baseline + OSM-based road context engine normalizes scoring per road class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Potential</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Shape 5"/>
          <p:cNvSpPr/>
          <p:nvPr/>
        </p:nvSpPr>
        <p:spPr>
          <a:xfrm>
            <a:off x="365760" y="749808"/>
            <a:ext cx="1965960" cy="1280160"/>
          </a:xfrm>
          <a:prstGeom prst="rect">
            <a:avLst/>
          </a:prstGeom>
          <a:solidFill>
            <a:srgbClr val="0A8C4E"/>
          </a:solidFill>
          <a:ln w="12700">
            <a:solidFill>
              <a:srgbClr val="0A8C4E"/>
            </a:solidFill>
            <a:prstDash val="solid"/>
          </a:ln>
        </p:spPr>
      </p:sp>
      <p:sp>
        <p:nvSpPr>
          <p:cNvPr id="8" name="Text 6"/>
          <p:cNvSpPr/>
          <p:nvPr/>
        </p:nvSpPr>
        <p:spPr>
          <a:xfrm>
            <a:off x="365760" y="841248"/>
            <a:ext cx="1965960" cy="5943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₹4,200 Cr+</a:t>
            </a:r>
            <a:endParaRPr lang="en-US" sz="2800" dirty="0"/>
          </a:p>
        </p:txBody>
      </p:sp>
      <p:sp>
        <p:nvSpPr>
          <p:cNvPr id="9" name="Text 7"/>
          <p:cNvSpPr/>
          <p:nvPr/>
        </p:nvSpPr>
        <p:spPr>
          <a:xfrm>
            <a:off x="365760" y="1417320"/>
            <a:ext cx="1965960" cy="502920"/>
          </a:xfrm>
          <a:prstGeom prst="rect">
            <a:avLst/>
          </a:prstGeom>
          <a:noFill/>
          <a:ln/>
        </p:spPr>
        <p:txBody>
          <a:bodyPr wrap="square" rtlCol="0" anchor="ctr"/>
          <a:lstStyle/>
          <a:p>
            <a:pPr marL="0" indent="0" algn="ctr">
              <a:buNone/>
            </a:pPr>
            <a:r>
              <a:rPr lang="en-US" sz="1100" dirty="0">
                <a:solidFill>
                  <a:srgbClr val="DDFFEE"/>
                </a:solidFill>
                <a:latin typeface="Calibri" pitchFamily="34" charset="0"/>
                <a:ea typeface="Calibri" pitchFamily="34" charset="-122"/>
                <a:cs typeface="Calibri" pitchFamily="34" charset="-120"/>
              </a:rPr>
              <a:t>India UBI market</a:t>
            </a:r>
            <a:endParaRPr lang="en-US" sz="1100" dirty="0"/>
          </a:p>
          <a:p>
            <a:pPr marL="0" indent="0" algn="ctr">
              <a:buNone/>
            </a:pPr>
            <a:r>
              <a:rPr lang="en-US" sz="1100" dirty="0">
                <a:solidFill>
                  <a:srgbClr val="DDFFEE"/>
                </a:solidFill>
                <a:latin typeface="Calibri" pitchFamily="34" charset="0"/>
                <a:ea typeface="Calibri" pitchFamily="34" charset="-122"/>
                <a:cs typeface="Calibri" pitchFamily="34" charset="-120"/>
              </a:rPr>
              <a:t>(2026E)</a:t>
            </a:r>
            <a:endParaRPr lang="en-US" sz="1100" dirty="0"/>
          </a:p>
        </p:txBody>
      </p:sp>
      <p:sp>
        <p:nvSpPr>
          <p:cNvPr id="10" name="Shape 8"/>
          <p:cNvSpPr/>
          <p:nvPr/>
        </p:nvSpPr>
        <p:spPr>
          <a:xfrm>
            <a:off x="2514600" y="749808"/>
            <a:ext cx="1965960" cy="1280160"/>
          </a:xfrm>
          <a:prstGeom prst="rect">
            <a:avLst/>
          </a:prstGeom>
          <a:solidFill>
            <a:srgbClr val="0D6E3D"/>
          </a:solidFill>
          <a:ln w="12700">
            <a:solidFill>
              <a:srgbClr val="0D6E3D"/>
            </a:solidFill>
            <a:prstDash val="solid"/>
          </a:ln>
        </p:spPr>
      </p:sp>
      <p:sp>
        <p:nvSpPr>
          <p:cNvPr id="11" name="Text 9"/>
          <p:cNvSpPr/>
          <p:nvPr/>
        </p:nvSpPr>
        <p:spPr>
          <a:xfrm>
            <a:off x="2514600" y="841248"/>
            <a:ext cx="1965960" cy="5943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300M+</a:t>
            </a:r>
            <a:endParaRPr lang="en-US" sz="2800" dirty="0"/>
          </a:p>
        </p:txBody>
      </p:sp>
      <p:sp>
        <p:nvSpPr>
          <p:cNvPr id="12" name="Text 10"/>
          <p:cNvSpPr/>
          <p:nvPr/>
        </p:nvSpPr>
        <p:spPr>
          <a:xfrm>
            <a:off x="2514600" y="1417320"/>
            <a:ext cx="1965960" cy="502920"/>
          </a:xfrm>
          <a:prstGeom prst="rect">
            <a:avLst/>
          </a:prstGeom>
          <a:noFill/>
          <a:ln/>
        </p:spPr>
        <p:txBody>
          <a:bodyPr wrap="square" rtlCol="0" anchor="ctr"/>
          <a:lstStyle/>
          <a:p>
            <a:pPr marL="0" indent="0" algn="ctr">
              <a:buNone/>
            </a:pPr>
            <a:r>
              <a:rPr lang="en-US" sz="1100" dirty="0">
                <a:solidFill>
                  <a:srgbClr val="DDFFEE"/>
                </a:solidFill>
                <a:latin typeface="Calibri" pitchFamily="34" charset="0"/>
                <a:ea typeface="Calibri" pitchFamily="34" charset="-122"/>
                <a:cs typeface="Calibri" pitchFamily="34" charset="-120"/>
              </a:rPr>
              <a:t>Registered 2-wheelers</a:t>
            </a:r>
            <a:endParaRPr lang="en-US" sz="1100" dirty="0"/>
          </a:p>
          <a:p>
            <a:pPr marL="0" indent="0" algn="ctr">
              <a:buNone/>
            </a:pPr>
            <a:r>
              <a:rPr lang="en-US" sz="1100" dirty="0">
                <a:solidFill>
                  <a:srgbClr val="DDFFEE"/>
                </a:solidFill>
                <a:latin typeface="Calibri" pitchFamily="34" charset="0"/>
                <a:ea typeface="Calibri" pitchFamily="34" charset="-122"/>
                <a:cs typeface="Calibri" pitchFamily="34" charset="-120"/>
              </a:rPr>
              <a:t>in India</a:t>
            </a:r>
            <a:endParaRPr lang="en-US" sz="1100" dirty="0"/>
          </a:p>
        </p:txBody>
      </p:sp>
      <p:sp>
        <p:nvSpPr>
          <p:cNvPr id="13" name="Shape 11"/>
          <p:cNvSpPr/>
          <p:nvPr/>
        </p:nvSpPr>
        <p:spPr>
          <a:xfrm>
            <a:off x="4663440" y="749808"/>
            <a:ext cx="1965960" cy="1280160"/>
          </a:xfrm>
          <a:prstGeom prst="rect">
            <a:avLst/>
          </a:prstGeom>
          <a:solidFill>
            <a:srgbClr val="CC4400"/>
          </a:solidFill>
          <a:ln w="12700">
            <a:solidFill>
              <a:srgbClr val="CC4400"/>
            </a:solidFill>
            <a:prstDash val="solid"/>
          </a:ln>
        </p:spPr>
      </p:sp>
      <p:sp>
        <p:nvSpPr>
          <p:cNvPr id="14" name="Text 12"/>
          <p:cNvSpPr/>
          <p:nvPr/>
        </p:nvSpPr>
        <p:spPr>
          <a:xfrm>
            <a:off x="4663440" y="841248"/>
            <a:ext cx="1965960" cy="5943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35%</a:t>
            </a:r>
            <a:endParaRPr lang="en-US" sz="2800" dirty="0"/>
          </a:p>
        </p:txBody>
      </p:sp>
      <p:sp>
        <p:nvSpPr>
          <p:cNvPr id="15" name="Text 13"/>
          <p:cNvSpPr/>
          <p:nvPr/>
        </p:nvSpPr>
        <p:spPr>
          <a:xfrm>
            <a:off x="4663440" y="1417320"/>
            <a:ext cx="1965960" cy="502920"/>
          </a:xfrm>
          <a:prstGeom prst="rect">
            <a:avLst/>
          </a:prstGeom>
          <a:noFill/>
          <a:ln/>
        </p:spPr>
        <p:txBody>
          <a:bodyPr wrap="square" rtlCol="0" anchor="ctr"/>
          <a:lstStyle/>
          <a:p>
            <a:pPr marL="0" indent="0" algn="ctr">
              <a:buNone/>
            </a:pPr>
            <a:r>
              <a:rPr lang="en-US" sz="1100" dirty="0">
                <a:solidFill>
                  <a:srgbClr val="DDFFEE"/>
                </a:solidFill>
                <a:latin typeface="Calibri" pitchFamily="34" charset="0"/>
                <a:ea typeface="Calibri" pitchFamily="34" charset="-122"/>
                <a:cs typeface="Calibri" pitchFamily="34" charset="-120"/>
              </a:rPr>
              <a:t>Road fatalities</a:t>
            </a:r>
            <a:endParaRPr lang="en-US" sz="1100" dirty="0"/>
          </a:p>
          <a:p>
            <a:pPr marL="0" indent="0" algn="ctr">
              <a:buNone/>
            </a:pPr>
            <a:r>
              <a:rPr lang="en-US" sz="1100" dirty="0">
                <a:solidFill>
                  <a:srgbClr val="DDFFEE"/>
                </a:solidFill>
                <a:latin typeface="Calibri" pitchFamily="34" charset="0"/>
                <a:ea typeface="Calibri" pitchFamily="34" charset="-122"/>
                <a:cs typeface="Calibri" pitchFamily="34" charset="-120"/>
              </a:rPr>
              <a:t>from 2-wheelers</a:t>
            </a:r>
            <a:endParaRPr lang="en-US" sz="1100" dirty="0"/>
          </a:p>
        </p:txBody>
      </p:sp>
      <p:sp>
        <p:nvSpPr>
          <p:cNvPr id="16" name="Shape 14"/>
          <p:cNvSpPr/>
          <p:nvPr/>
        </p:nvSpPr>
        <p:spPr>
          <a:xfrm>
            <a:off x="6812280" y="749808"/>
            <a:ext cx="1965960" cy="1280160"/>
          </a:xfrm>
          <a:prstGeom prst="rect">
            <a:avLst/>
          </a:prstGeom>
          <a:solidFill>
            <a:srgbClr val="0077BB"/>
          </a:solidFill>
          <a:ln w="12700">
            <a:solidFill>
              <a:srgbClr val="0077BB"/>
            </a:solidFill>
            <a:prstDash val="solid"/>
          </a:ln>
        </p:spPr>
      </p:sp>
      <p:sp>
        <p:nvSpPr>
          <p:cNvPr id="17" name="Text 15"/>
          <p:cNvSpPr/>
          <p:nvPr/>
        </p:nvSpPr>
        <p:spPr>
          <a:xfrm>
            <a:off x="6812280" y="841248"/>
            <a:ext cx="1965960" cy="5943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₹1,000</a:t>
            </a:r>
            <a:endParaRPr lang="en-US" sz="2800" dirty="0"/>
          </a:p>
        </p:txBody>
      </p:sp>
      <p:sp>
        <p:nvSpPr>
          <p:cNvPr id="18" name="Text 16"/>
          <p:cNvSpPr/>
          <p:nvPr/>
        </p:nvSpPr>
        <p:spPr>
          <a:xfrm>
            <a:off x="6812280" y="1417320"/>
            <a:ext cx="1965960" cy="502920"/>
          </a:xfrm>
          <a:prstGeom prst="rect">
            <a:avLst/>
          </a:prstGeom>
          <a:noFill/>
          <a:ln/>
        </p:spPr>
        <p:txBody>
          <a:bodyPr wrap="square" rtlCol="0" anchor="ctr"/>
          <a:lstStyle/>
          <a:p>
            <a:pPr marL="0" indent="0" algn="ctr">
              <a:buNone/>
            </a:pPr>
            <a:r>
              <a:rPr lang="en-US" sz="1100" dirty="0">
                <a:solidFill>
                  <a:srgbClr val="DDFFEE"/>
                </a:solidFill>
                <a:latin typeface="Calibri" pitchFamily="34" charset="0"/>
                <a:ea typeface="Calibri" pitchFamily="34" charset="-122"/>
                <a:cs typeface="Calibri" pitchFamily="34" charset="-120"/>
              </a:rPr>
              <a:t>Hardware Bill Of Material</a:t>
            </a:r>
            <a:endParaRPr lang="en-US" sz="1100" dirty="0"/>
          </a:p>
          <a:p>
            <a:pPr marL="0" indent="0" algn="ctr">
              <a:buNone/>
            </a:pPr>
            <a:r>
              <a:rPr lang="en-US" sz="1100" dirty="0">
                <a:solidFill>
                  <a:srgbClr val="DDFFEE"/>
                </a:solidFill>
                <a:latin typeface="Calibri" pitchFamily="34" charset="0"/>
                <a:ea typeface="Calibri" pitchFamily="34" charset="-122"/>
                <a:cs typeface="Calibri" pitchFamily="34" charset="-120"/>
              </a:rPr>
              <a:t>per unit</a:t>
            </a:r>
            <a:endParaRPr lang="en-US" sz="1100" dirty="0"/>
          </a:p>
        </p:txBody>
      </p:sp>
      <p:sp>
        <p:nvSpPr>
          <p:cNvPr id="19" name="Text 17"/>
          <p:cNvSpPr/>
          <p:nvPr/>
        </p:nvSpPr>
        <p:spPr>
          <a:xfrm>
            <a:off x="365760" y="2240280"/>
            <a:ext cx="8412480" cy="320040"/>
          </a:xfrm>
          <a:prstGeom prst="rect">
            <a:avLst/>
          </a:prstGeom>
          <a:noFill/>
          <a:ln/>
        </p:spPr>
        <p:txBody>
          <a:bodyPr wrap="square" rtlCol="0" anchor="ctr"/>
          <a:lstStyle/>
          <a:p>
            <a:pPr marL="0" indent="0">
              <a:buNone/>
            </a:pPr>
            <a:r>
              <a:rPr lang="en-US" sz="1400" b="1" dirty="0">
                <a:solidFill>
                  <a:srgbClr val="0E7A3A"/>
                </a:solidFill>
                <a:latin typeface="Calibri" pitchFamily="34" charset="0"/>
                <a:ea typeface="Calibri" pitchFamily="34" charset="-122"/>
                <a:cs typeface="Calibri" pitchFamily="34" charset="-120"/>
              </a:rPr>
              <a:t>Revenue Model &amp; Market Segments</a:t>
            </a:r>
            <a:endParaRPr lang="en-US" sz="1400" dirty="0"/>
          </a:p>
        </p:txBody>
      </p:sp>
      <p:sp>
        <p:nvSpPr>
          <p:cNvPr id="20" name="Shape 18"/>
          <p:cNvSpPr/>
          <p:nvPr/>
        </p:nvSpPr>
        <p:spPr>
          <a:xfrm>
            <a:off x="365760" y="2633472"/>
            <a:ext cx="8412480" cy="420624"/>
          </a:xfrm>
          <a:prstGeom prst="rect">
            <a:avLst/>
          </a:prstGeom>
          <a:solidFill>
            <a:srgbClr val="F0FAF4"/>
          </a:solidFill>
          <a:ln w="12700">
            <a:solidFill>
              <a:srgbClr val="D0E8D8"/>
            </a:solidFill>
            <a:prstDash val="solid"/>
          </a:ln>
        </p:spPr>
      </p:sp>
      <p:sp>
        <p:nvSpPr>
          <p:cNvPr id="21" name="Shape 19"/>
          <p:cNvSpPr/>
          <p:nvPr/>
        </p:nvSpPr>
        <p:spPr>
          <a:xfrm>
            <a:off x="365760" y="2633472"/>
            <a:ext cx="73152" cy="420624"/>
          </a:xfrm>
          <a:prstGeom prst="rect">
            <a:avLst/>
          </a:prstGeom>
          <a:solidFill>
            <a:srgbClr val="1DB954"/>
          </a:solidFill>
          <a:ln w="12700">
            <a:solidFill>
              <a:srgbClr val="1DB954"/>
            </a:solidFill>
            <a:prstDash val="solid"/>
          </a:ln>
        </p:spPr>
      </p:sp>
      <p:sp>
        <p:nvSpPr>
          <p:cNvPr id="22" name="Text 20"/>
          <p:cNvSpPr/>
          <p:nvPr/>
        </p:nvSpPr>
        <p:spPr>
          <a:xfrm>
            <a:off x="530352" y="2633472"/>
            <a:ext cx="2926080" cy="420624"/>
          </a:xfrm>
          <a:prstGeom prst="rect">
            <a:avLst/>
          </a:prstGeom>
          <a:noFill/>
          <a:ln/>
        </p:spPr>
        <p:txBody>
          <a:bodyPr wrap="square" rtlCol="0" anchor="ctr"/>
          <a:lstStyle/>
          <a:p>
            <a:pPr marL="0" indent="0">
              <a:buNone/>
            </a:pPr>
            <a:r>
              <a:rPr lang="en-US" sz="1150" b="1" dirty="0">
                <a:solidFill>
                  <a:srgbClr val="0E7A3A"/>
                </a:solidFill>
                <a:latin typeface="Calibri" pitchFamily="34" charset="0"/>
                <a:ea typeface="Calibri" pitchFamily="34" charset="-122"/>
                <a:cs typeface="Calibri" pitchFamily="34" charset="-120"/>
              </a:rPr>
              <a:t>B2B — Insurance Companies</a:t>
            </a:r>
            <a:endParaRPr lang="en-US" sz="1150" dirty="0"/>
          </a:p>
        </p:txBody>
      </p:sp>
      <p:sp>
        <p:nvSpPr>
          <p:cNvPr id="23" name="Text 21"/>
          <p:cNvSpPr/>
          <p:nvPr/>
        </p:nvSpPr>
        <p:spPr>
          <a:xfrm>
            <a:off x="3520440" y="2633472"/>
            <a:ext cx="5166360" cy="420624"/>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UBI premium discounts drive rider adoption; insurers pay ₹50–100/month per device subscription</a:t>
            </a:r>
            <a:endParaRPr lang="en-US" sz="1100" dirty="0"/>
          </a:p>
        </p:txBody>
      </p:sp>
      <p:sp>
        <p:nvSpPr>
          <p:cNvPr id="24" name="Shape 22"/>
          <p:cNvSpPr/>
          <p:nvPr/>
        </p:nvSpPr>
        <p:spPr>
          <a:xfrm>
            <a:off x="365760" y="3127248"/>
            <a:ext cx="8412480" cy="420624"/>
          </a:xfrm>
          <a:prstGeom prst="rect">
            <a:avLst/>
          </a:prstGeom>
          <a:solidFill>
            <a:srgbClr val="FFFFFF"/>
          </a:solidFill>
          <a:ln w="12700">
            <a:solidFill>
              <a:srgbClr val="D0E8D8"/>
            </a:solidFill>
            <a:prstDash val="solid"/>
          </a:ln>
        </p:spPr>
      </p:sp>
      <p:sp>
        <p:nvSpPr>
          <p:cNvPr id="25" name="Shape 23"/>
          <p:cNvSpPr/>
          <p:nvPr/>
        </p:nvSpPr>
        <p:spPr>
          <a:xfrm>
            <a:off x="365760" y="3127248"/>
            <a:ext cx="73152" cy="420624"/>
          </a:xfrm>
          <a:prstGeom prst="rect">
            <a:avLst/>
          </a:prstGeom>
          <a:solidFill>
            <a:srgbClr val="1DB954"/>
          </a:solidFill>
          <a:ln w="12700">
            <a:solidFill>
              <a:srgbClr val="1DB954"/>
            </a:solidFill>
            <a:prstDash val="solid"/>
          </a:ln>
        </p:spPr>
      </p:sp>
      <p:sp>
        <p:nvSpPr>
          <p:cNvPr id="26" name="Text 24"/>
          <p:cNvSpPr/>
          <p:nvPr/>
        </p:nvSpPr>
        <p:spPr>
          <a:xfrm>
            <a:off x="530352" y="3127248"/>
            <a:ext cx="2926080" cy="420624"/>
          </a:xfrm>
          <a:prstGeom prst="rect">
            <a:avLst/>
          </a:prstGeom>
          <a:noFill/>
          <a:ln/>
        </p:spPr>
        <p:txBody>
          <a:bodyPr wrap="square" rtlCol="0" anchor="ctr"/>
          <a:lstStyle/>
          <a:p>
            <a:pPr marL="0" indent="0">
              <a:buNone/>
            </a:pPr>
            <a:r>
              <a:rPr lang="en-US" sz="1150" b="1" dirty="0">
                <a:solidFill>
                  <a:srgbClr val="0E7A3A"/>
                </a:solidFill>
                <a:latin typeface="Calibri" pitchFamily="34" charset="0"/>
                <a:ea typeface="Calibri" pitchFamily="34" charset="-122"/>
                <a:cs typeface="Calibri" pitchFamily="34" charset="-120"/>
              </a:rPr>
              <a:t>B2B — Fleet Operators (Zomato, Swiggy, Dunzo)</a:t>
            </a:r>
            <a:endParaRPr lang="en-US" sz="1150" dirty="0"/>
          </a:p>
        </p:txBody>
      </p:sp>
      <p:sp>
        <p:nvSpPr>
          <p:cNvPr id="27" name="Text 25"/>
          <p:cNvSpPr/>
          <p:nvPr/>
        </p:nvSpPr>
        <p:spPr>
          <a:xfrm>
            <a:off x="3520440" y="3127248"/>
            <a:ext cx="5166360" cy="420624"/>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Reduce accident liability; driver score used for bonuses &amp; training</a:t>
            </a:r>
            <a:endParaRPr lang="en-US" sz="1100" dirty="0"/>
          </a:p>
        </p:txBody>
      </p:sp>
      <p:sp>
        <p:nvSpPr>
          <p:cNvPr id="28" name="Shape 26"/>
          <p:cNvSpPr/>
          <p:nvPr/>
        </p:nvSpPr>
        <p:spPr>
          <a:xfrm>
            <a:off x="365760" y="3621024"/>
            <a:ext cx="8412480" cy="420624"/>
          </a:xfrm>
          <a:prstGeom prst="rect">
            <a:avLst/>
          </a:prstGeom>
          <a:solidFill>
            <a:srgbClr val="F0FAF4"/>
          </a:solidFill>
          <a:ln w="12700">
            <a:solidFill>
              <a:srgbClr val="D0E8D8"/>
            </a:solidFill>
            <a:prstDash val="solid"/>
          </a:ln>
        </p:spPr>
      </p:sp>
      <p:sp>
        <p:nvSpPr>
          <p:cNvPr id="29" name="Shape 27"/>
          <p:cNvSpPr/>
          <p:nvPr/>
        </p:nvSpPr>
        <p:spPr>
          <a:xfrm>
            <a:off x="365760" y="3621024"/>
            <a:ext cx="73152" cy="420624"/>
          </a:xfrm>
          <a:prstGeom prst="rect">
            <a:avLst/>
          </a:prstGeom>
          <a:solidFill>
            <a:srgbClr val="1DB954"/>
          </a:solidFill>
          <a:ln w="12700">
            <a:solidFill>
              <a:srgbClr val="1DB954"/>
            </a:solidFill>
            <a:prstDash val="solid"/>
          </a:ln>
        </p:spPr>
      </p:sp>
      <p:sp>
        <p:nvSpPr>
          <p:cNvPr id="30" name="Text 28"/>
          <p:cNvSpPr/>
          <p:nvPr/>
        </p:nvSpPr>
        <p:spPr>
          <a:xfrm>
            <a:off x="530352" y="3621024"/>
            <a:ext cx="2926080" cy="420624"/>
          </a:xfrm>
          <a:prstGeom prst="rect">
            <a:avLst/>
          </a:prstGeom>
          <a:noFill/>
          <a:ln/>
        </p:spPr>
        <p:txBody>
          <a:bodyPr wrap="square" rtlCol="0" anchor="ctr"/>
          <a:lstStyle/>
          <a:p>
            <a:pPr marL="0" indent="0">
              <a:buNone/>
            </a:pPr>
            <a:r>
              <a:rPr lang="en-US" sz="1150" b="1" dirty="0">
                <a:solidFill>
                  <a:srgbClr val="0E7A3A"/>
                </a:solidFill>
                <a:latin typeface="Calibri" pitchFamily="34" charset="0"/>
                <a:ea typeface="Calibri" pitchFamily="34" charset="-122"/>
                <a:cs typeface="Calibri" pitchFamily="34" charset="-120"/>
              </a:rPr>
              <a:t>B2C — Rider Safety App</a:t>
            </a:r>
            <a:endParaRPr lang="en-US" sz="1150" dirty="0"/>
          </a:p>
        </p:txBody>
      </p:sp>
      <p:sp>
        <p:nvSpPr>
          <p:cNvPr id="31" name="Text 29"/>
          <p:cNvSpPr/>
          <p:nvPr/>
        </p:nvSpPr>
        <p:spPr>
          <a:xfrm>
            <a:off x="3520440" y="3621024"/>
            <a:ext cx="5166360" cy="420624"/>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Freemium app; premium tier at ₹99/month unlocks detailed trip analysis</a:t>
            </a:r>
            <a:endParaRPr lang="en-US" sz="1100" dirty="0"/>
          </a:p>
        </p:txBody>
      </p:sp>
      <p:sp>
        <p:nvSpPr>
          <p:cNvPr id="32" name="Shape 30"/>
          <p:cNvSpPr/>
          <p:nvPr/>
        </p:nvSpPr>
        <p:spPr>
          <a:xfrm>
            <a:off x="365760" y="4114800"/>
            <a:ext cx="8412480" cy="420624"/>
          </a:xfrm>
          <a:prstGeom prst="rect">
            <a:avLst/>
          </a:prstGeom>
          <a:solidFill>
            <a:srgbClr val="FFFFFF"/>
          </a:solidFill>
          <a:ln w="12700">
            <a:solidFill>
              <a:srgbClr val="D0E8D8"/>
            </a:solidFill>
            <a:prstDash val="solid"/>
          </a:ln>
        </p:spPr>
      </p:sp>
      <p:sp>
        <p:nvSpPr>
          <p:cNvPr id="33" name="Shape 31"/>
          <p:cNvSpPr/>
          <p:nvPr/>
        </p:nvSpPr>
        <p:spPr>
          <a:xfrm>
            <a:off x="365760" y="4114800"/>
            <a:ext cx="73152" cy="420624"/>
          </a:xfrm>
          <a:prstGeom prst="rect">
            <a:avLst/>
          </a:prstGeom>
          <a:solidFill>
            <a:srgbClr val="1DB954"/>
          </a:solidFill>
          <a:ln w="12700">
            <a:solidFill>
              <a:srgbClr val="1DB954"/>
            </a:solidFill>
            <a:prstDash val="solid"/>
          </a:ln>
        </p:spPr>
      </p:sp>
      <p:sp>
        <p:nvSpPr>
          <p:cNvPr id="34" name="Text 32"/>
          <p:cNvSpPr/>
          <p:nvPr/>
        </p:nvSpPr>
        <p:spPr>
          <a:xfrm>
            <a:off x="530352" y="4114800"/>
            <a:ext cx="2926080" cy="420624"/>
          </a:xfrm>
          <a:prstGeom prst="rect">
            <a:avLst/>
          </a:prstGeom>
          <a:noFill/>
          <a:ln/>
        </p:spPr>
        <p:txBody>
          <a:bodyPr wrap="square" rtlCol="0" anchor="ctr"/>
          <a:lstStyle/>
          <a:p>
            <a:pPr marL="0" indent="0">
              <a:buNone/>
            </a:pPr>
            <a:r>
              <a:rPr lang="en-US" sz="1150" b="1" dirty="0">
                <a:solidFill>
                  <a:srgbClr val="0E7A3A"/>
                </a:solidFill>
                <a:latin typeface="Calibri" pitchFamily="34" charset="0"/>
                <a:ea typeface="Calibri" pitchFamily="34" charset="-122"/>
                <a:cs typeface="Calibri" pitchFamily="34" charset="-120"/>
              </a:rPr>
              <a:t>B2G — Smart City / Traffic Dept</a:t>
            </a:r>
            <a:endParaRPr lang="en-US" sz="1150" dirty="0"/>
          </a:p>
        </p:txBody>
      </p:sp>
      <p:sp>
        <p:nvSpPr>
          <p:cNvPr id="35" name="Text 33"/>
          <p:cNvSpPr/>
          <p:nvPr/>
        </p:nvSpPr>
        <p:spPr>
          <a:xfrm>
            <a:off x="3520440" y="4114800"/>
            <a:ext cx="5166360" cy="420624"/>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Aggregate anonymized data for hotspot analysis and road safety policy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w="12700">
            <a:solidFill>
              <a:srgbClr val="1A1A1A"/>
            </a:solidFill>
            <a:prstDash val="solid"/>
          </a:ln>
        </p:spPr>
      </p:sp>
      <p:sp>
        <p:nvSpPr>
          <p:cNvPr id="3" name="Shape 1"/>
          <p:cNvSpPr/>
          <p:nvPr/>
        </p:nvSpPr>
        <p:spPr>
          <a:xfrm>
            <a:off x="0" y="0"/>
            <a:ext cx="164592" cy="594360"/>
          </a:xfrm>
          <a:prstGeom prst="rect">
            <a:avLst/>
          </a:prstGeom>
          <a:solidFill>
            <a:srgbClr val="1DB954"/>
          </a:solidFill>
          <a:ln w="12700">
            <a:solidFill>
              <a:srgbClr val="1DB954"/>
            </a:solidFill>
            <a:prstDash val="solid"/>
          </a:ln>
        </p:spPr>
      </p:sp>
      <p:sp>
        <p:nvSpPr>
          <p:cNvPr id="4" name="Text 2"/>
          <p:cNvSpPr/>
          <p:nvPr/>
        </p:nvSpPr>
        <p:spPr>
          <a:xfrm>
            <a:off x="274320" y="0"/>
            <a:ext cx="73152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Plan &amp; Budget Needed</a:t>
            </a:r>
            <a:endParaRPr lang="en-US" sz="2200" dirty="0"/>
          </a:p>
        </p:txBody>
      </p:sp>
      <p:sp>
        <p:nvSpPr>
          <p:cNvPr id="5" name="Shape 3"/>
          <p:cNvSpPr/>
          <p:nvPr/>
        </p:nvSpPr>
        <p:spPr>
          <a:xfrm>
            <a:off x="0" y="4800600"/>
            <a:ext cx="9144000" cy="342900"/>
          </a:xfrm>
          <a:prstGeom prst="rect">
            <a:avLst/>
          </a:prstGeom>
          <a:solidFill>
            <a:srgbClr val="1A1A1A"/>
          </a:solidFill>
          <a:ln w="12700">
            <a:solidFill>
              <a:srgbClr val="1A1A1A"/>
            </a:solidFill>
            <a:prstDash val="solid"/>
          </a:ln>
        </p:spPr>
      </p:sp>
      <p:sp>
        <p:nvSpPr>
          <p:cNvPr id="6" name="Text 4"/>
          <p:cNvSpPr/>
          <p:nvPr/>
        </p:nvSpPr>
        <p:spPr>
          <a:xfrm>
            <a:off x="274320" y="4800600"/>
            <a:ext cx="2743200" cy="34290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
        <p:nvSpPr>
          <p:cNvPr id="7" name="Text 5"/>
          <p:cNvSpPr/>
          <p:nvPr/>
        </p:nvSpPr>
        <p:spPr>
          <a:xfrm>
            <a:off x="411480" y="736092"/>
            <a:ext cx="8412480" cy="320040"/>
          </a:xfrm>
          <a:prstGeom prst="rect">
            <a:avLst/>
          </a:prstGeom>
          <a:noFill/>
          <a:ln/>
        </p:spPr>
        <p:txBody>
          <a:bodyPr wrap="square" rtlCol="0" anchor="ctr"/>
          <a:lstStyle/>
          <a:p>
            <a:pPr marL="0" indent="0">
              <a:buNone/>
            </a:pPr>
            <a:r>
              <a:rPr lang="en-US" sz="1400" b="1" dirty="0">
                <a:solidFill>
                  <a:srgbClr val="0E7A3A"/>
                </a:solidFill>
                <a:latin typeface="Calibri" pitchFamily="34" charset="0"/>
                <a:ea typeface="Calibri" pitchFamily="34" charset="-122"/>
                <a:cs typeface="Calibri" pitchFamily="34" charset="-120"/>
              </a:rPr>
              <a:t>Prototype Development Milestones</a:t>
            </a:r>
            <a:endParaRPr lang="en-US" sz="1400" dirty="0"/>
          </a:p>
        </p:txBody>
      </p:sp>
      <p:sp>
        <p:nvSpPr>
          <p:cNvPr id="8" name="Shape 6"/>
          <p:cNvSpPr/>
          <p:nvPr/>
        </p:nvSpPr>
        <p:spPr>
          <a:xfrm>
            <a:off x="365760" y="1124712"/>
            <a:ext cx="8412480" cy="45720"/>
          </a:xfrm>
          <a:prstGeom prst="rect">
            <a:avLst/>
          </a:prstGeom>
          <a:solidFill>
            <a:srgbClr val="1DB954"/>
          </a:solidFill>
          <a:ln w="12700">
            <a:solidFill>
              <a:srgbClr val="1DB954"/>
            </a:solidFill>
            <a:prstDash val="solid"/>
          </a:ln>
        </p:spPr>
      </p:sp>
      <p:sp>
        <p:nvSpPr>
          <p:cNvPr id="9" name="Shape 7"/>
          <p:cNvSpPr/>
          <p:nvPr/>
        </p:nvSpPr>
        <p:spPr>
          <a:xfrm>
            <a:off x="1005840" y="996696"/>
            <a:ext cx="256032" cy="256032"/>
          </a:xfrm>
          <a:prstGeom prst="ellipse">
            <a:avLst/>
          </a:prstGeom>
          <a:solidFill>
            <a:srgbClr val="1DB954"/>
          </a:solidFill>
          <a:ln w="12700">
            <a:solidFill>
              <a:srgbClr val="FFFFFF"/>
            </a:solidFill>
            <a:prstDash val="solid"/>
          </a:ln>
        </p:spPr>
      </p:sp>
      <p:sp>
        <p:nvSpPr>
          <p:cNvPr id="10" name="Shape 8"/>
          <p:cNvSpPr/>
          <p:nvPr/>
        </p:nvSpPr>
        <p:spPr>
          <a:xfrm>
            <a:off x="457200" y="1339596"/>
            <a:ext cx="1572768" cy="804672"/>
          </a:xfrm>
          <a:prstGeom prst="rect">
            <a:avLst/>
          </a:prstGeom>
          <a:solidFill>
            <a:srgbClr val="0E1A14"/>
          </a:solidFill>
          <a:ln w="12700">
            <a:solidFill>
              <a:srgbClr val="1DB954"/>
            </a:solidFill>
            <a:prstDash val="solid"/>
          </a:ln>
        </p:spPr>
      </p:sp>
      <p:sp>
        <p:nvSpPr>
          <p:cNvPr id="11" name="Text 9"/>
          <p:cNvSpPr/>
          <p:nvPr/>
        </p:nvSpPr>
        <p:spPr>
          <a:xfrm>
            <a:off x="457200" y="1357884"/>
            <a:ext cx="1572768" cy="219456"/>
          </a:xfrm>
          <a:prstGeom prst="rect">
            <a:avLst/>
          </a:prstGeom>
          <a:noFill/>
          <a:ln/>
        </p:spPr>
        <p:txBody>
          <a:bodyPr wrap="square" rtlCol="0" anchor="ctr"/>
          <a:lstStyle/>
          <a:p>
            <a:pPr marL="0" indent="0" algn="ctr">
              <a:buNone/>
            </a:pPr>
            <a:r>
              <a:rPr lang="en-US" sz="900" b="1" dirty="0">
                <a:solidFill>
                  <a:srgbClr val="1DB954"/>
                </a:solidFill>
                <a:latin typeface="Calibri" pitchFamily="34" charset="0"/>
                <a:ea typeface="Calibri" pitchFamily="34" charset="-122"/>
                <a:cs typeface="Calibri" pitchFamily="34" charset="-120"/>
              </a:rPr>
              <a:t>Month 1</a:t>
            </a:r>
            <a:endParaRPr lang="en-US" sz="900" dirty="0"/>
          </a:p>
        </p:txBody>
      </p:sp>
      <p:sp>
        <p:nvSpPr>
          <p:cNvPr id="12" name="Text 10"/>
          <p:cNvSpPr/>
          <p:nvPr/>
        </p:nvSpPr>
        <p:spPr>
          <a:xfrm>
            <a:off x="457200" y="1559052"/>
            <a:ext cx="1572768"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Hardware Setup</a:t>
            </a:r>
            <a:endParaRPr lang="en-US" sz="1000" dirty="0"/>
          </a:p>
        </p:txBody>
      </p:sp>
      <p:sp>
        <p:nvSpPr>
          <p:cNvPr id="13" name="Text 11"/>
          <p:cNvSpPr/>
          <p:nvPr/>
        </p:nvSpPr>
        <p:spPr>
          <a:xfrm>
            <a:off x="457200" y="1796796"/>
            <a:ext cx="1572768" cy="329184"/>
          </a:xfrm>
          <a:prstGeom prst="rect">
            <a:avLst/>
          </a:prstGeom>
          <a:noFill/>
          <a:ln/>
        </p:spPr>
        <p:txBody>
          <a:bodyPr wrap="square" rtlCol="0" anchor="ctr"/>
          <a:lstStyle/>
          <a:p>
            <a:pPr marL="0" indent="0" algn="ctr">
              <a:buNone/>
            </a:pPr>
            <a:r>
              <a:rPr lang="en-US" sz="850" dirty="0">
                <a:solidFill>
                  <a:srgbClr val="AACCAA"/>
                </a:solidFill>
                <a:latin typeface="Calibri" pitchFamily="34" charset="0"/>
                <a:ea typeface="Calibri" pitchFamily="34" charset="-122"/>
                <a:cs typeface="Calibri" pitchFamily="34" charset="-120"/>
              </a:rPr>
              <a:t>ESP32 + IMU + GPS assembly; basic data logging</a:t>
            </a:r>
            <a:endParaRPr lang="en-US" sz="850" dirty="0"/>
          </a:p>
        </p:txBody>
      </p:sp>
      <p:sp>
        <p:nvSpPr>
          <p:cNvPr id="14" name="Shape 12"/>
          <p:cNvSpPr/>
          <p:nvPr/>
        </p:nvSpPr>
        <p:spPr>
          <a:xfrm>
            <a:off x="2670048" y="996696"/>
            <a:ext cx="256032" cy="256032"/>
          </a:xfrm>
          <a:prstGeom prst="ellipse">
            <a:avLst/>
          </a:prstGeom>
          <a:solidFill>
            <a:srgbClr val="1DB954"/>
          </a:solidFill>
          <a:ln w="12700">
            <a:solidFill>
              <a:srgbClr val="FFFFFF"/>
            </a:solidFill>
            <a:prstDash val="solid"/>
          </a:ln>
        </p:spPr>
      </p:sp>
      <p:sp>
        <p:nvSpPr>
          <p:cNvPr id="15" name="Shape 13"/>
          <p:cNvSpPr/>
          <p:nvPr/>
        </p:nvSpPr>
        <p:spPr>
          <a:xfrm>
            <a:off x="2121408" y="1339596"/>
            <a:ext cx="1572768" cy="804672"/>
          </a:xfrm>
          <a:prstGeom prst="rect">
            <a:avLst/>
          </a:prstGeom>
          <a:solidFill>
            <a:srgbClr val="1A2E1F"/>
          </a:solidFill>
          <a:ln w="12700">
            <a:solidFill>
              <a:srgbClr val="1DB954"/>
            </a:solidFill>
            <a:prstDash val="solid"/>
          </a:ln>
        </p:spPr>
      </p:sp>
      <p:sp>
        <p:nvSpPr>
          <p:cNvPr id="16" name="Text 14"/>
          <p:cNvSpPr/>
          <p:nvPr/>
        </p:nvSpPr>
        <p:spPr>
          <a:xfrm>
            <a:off x="2121408" y="1357884"/>
            <a:ext cx="1572768" cy="219456"/>
          </a:xfrm>
          <a:prstGeom prst="rect">
            <a:avLst/>
          </a:prstGeom>
          <a:noFill/>
          <a:ln/>
        </p:spPr>
        <p:txBody>
          <a:bodyPr wrap="square" rtlCol="0" anchor="ctr"/>
          <a:lstStyle/>
          <a:p>
            <a:pPr marL="0" indent="0" algn="ctr">
              <a:buNone/>
            </a:pPr>
            <a:r>
              <a:rPr lang="en-US" sz="900" b="1" dirty="0">
                <a:solidFill>
                  <a:srgbClr val="1DB954"/>
                </a:solidFill>
                <a:latin typeface="Calibri" pitchFamily="34" charset="0"/>
                <a:ea typeface="Calibri" pitchFamily="34" charset="-122"/>
                <a:cs typeface="Calibri" pitchFamily="34" charset="-120"/>
              </a:rPr>
              <a:t>Month 2</a:t>
            </a:r>
            <a:endParaRPr lang="en-US" sz="900" dirty="0"/>
          </a:p>
        </p:txBody>
      </p:sp>
      <p:sp>
        <p:nvSpPr>
          <p:cNvPr id="17" name="Text 15"/>
          <p:cNvSpPr/>
          <p:nvPr/>
        </p:nvSpPr>
        <p:spPr>
          <a:xfrm>
            <a:off x="2121408" y="1559052"/>
            <a:ext cx="1572768"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Algorithm Dev</a:t>
            </a:r>
            <a:endParaRPr lang="en-US" sz="1000" dirty="0"/>
          </a:p>
        </p:txBody>
      </p:sp>
      <p:sp>
        <p:nvSpPr>
          <p:cNvPr id="18" name="Text 16"/>
          <p:cNvSpPr/>
          <p:nvPr/>
        </p:nvSpPr>
        <p:spPr>
          <a:xfrm>
            <a:off x="2121408" y="1796796"/>
            <a:ext cx="1572768" cy="329184"/>
          </a:xfrm>
          <a:prstGeom prst="rect">
            <a:avLst/>
          </a:prstGeom>
          <a:noFill/>
          <a:ln/>
        </p:spPr>
        <p:txBody>
          <a:bodyPr wrap="square" rtlCol="0" anchor="ctr"/>
          <a:lstStyle/>
          <a:p>
            <a:pPr marL="0" indent="0" algn="ctr">
              <a:buNone/>
            </a:pPr>
            <a:r>
              <a:rPr lang="en-US" sz="850" dirty="0">
                <a:solidFill>
                  <a:srgbClr val="AACCAA"/>
                </a:solidFill>
                <a:latin typeface="Calibri" pitchFamily="34" charset="0"/>
                <a:ea typeface="Calibri" pitchFamily="34" charset="-122"/>
                <a:cs typeface="Calibri" pitchFamily="34" charset="-120"/>
              </a:rPr>
              <a:t>Kalman filter + jerk detection; MATLAB simulation</a:t>
            </a:r>
            <a:endParaRPr lang="en-US" sz="850" dirty="0"/>
          </a:p>
        </p:txBody>
      </p:sp>
      <p:sp>
        <p:nvSpPr>
          <p:cNvPr id="19" name="Shape 17"/>
          <p:cNvSpPr/>
          <p:nvPr/>
        </p:nvSpPr>
        <p:spPr>
          <a:xfrm>
            <a:off x="4334256" y="996696"/>
            <a:ext cx="256032" cy="256032"/>
          </a:xfrm>
          <a:prstGeom prst="ellipse">
            <a:avLst/>
          </a:prstGeom>
          <a:solidFill>
            <a:srgbClr val="1DB954"/>
          </a:solidFill>
          <a:ln w="12700">
            <a:solidFill>
              <a:srgbClr val="FFFFFF"/>
            </a:solidFill>
            <a:prstDash val="solid"/>
          </a:ln>
        </p:spPr>
      </p:sp>
      <p:sp>
        <p:nvSpPr>
          <p:cNvPr id="20" name="Shape 18"/>
          <p:cNvSpPr/>
          <p:nvPr/>
        </p:nvSpPr>
        <p:spPr>
          <a:xfrm>
            <a:off x="3785616" y="1339596"/>
            <a:ext cx="1572768" cy="804672"/>
          </a:xfrm>
          <a:prstGeom prst="rect">
            <a:avLst/>
          </a:prstGeom>
          <a:solidFill>
            <a:srgbClr val="0E1A14"/>
          </a:solidFill>
          <a:ln w="12700">
            <a:solidFill>
              <a:srgbClr val="1DB954"/>
            </a:solidFill>
            <a:prstDash val="solid"/>
          </a:ln>
        </p:spPr>
      </p:sp>
      <p:sp>
        <p:nvSpPr>
          <p:cNvPr id="21" name="Text 19"/>
          <p:cNvSpPr/>
          <p:nvPr/>
        </p:nvSpPr>
        <p:spPr>
          <a:xfrm>
            <a:off x="3785616" y="1357884"/>
            <a:ext cx="1572768" cy="219456"/>
          </a:xfrm>
          <a:prstGeom prst="rect">
            <a:avLst/>
          </a:prstGeom>
          <a:noFill/>
          <a:ln/>
        </p:spPr>
        <p:txBody>
          <a:bodyPr wrap="square" rtlCol="0" anchor="ctr"/>
          <a:lstStyle/>
          <a:p>
            <a:pPr marL="0" indent="0" algn="ctr">
              <a:buNone/>
            </a:pPr>
            <a:r>
              <a:rPr lang="en-US" sz="900" b="1" dirty="0">
                <a:solidFill>
                  <a:srgbClr val="1DB954"/>
                </a:solidFill>
                <a:latin typeface="Calibri" pitchFamily="34" charset="0"/>
                <a:ea typeface="Calibri" pitchFamily="34" charset="-122"/>
                <a:cs typeface="Calibri" pitchFamily="34" charset="-120"/>
              </a:rPr>
              <a:t>Month 3</a:t>
            </a:r>
            <a:endParaRPr lang="en-US" sz="900" dirty="0"/>
          </a:p>
        </p:txBody>
      </p:sp>
      <p:sp>
        <p:nvSpPr>
          <p:cNvPr id="22" name="Text 20"/>
          <p:cNvSpPr/>
          <p:nvPr/>
        </p:nvSpPr>
        <p:spPr>
          <a:xfrm>
            <a:off x="3785616" y="1559052"/>
            <a:ext cx="1572768"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Field Testing</a:t>
            </a:r>
            <a:endParaRPr lang="en-US" sz="1000" dirty="0"/>
          </a:p>
        </p:txBody>
      </p:sp>
      <p:sp>
        <p:nvSpPr>
          <p:cNvPr id="23" name="Text 21"/>
          <p:cNvSpPr/>
          <p:nvPr/>
        </p:nvSpPr>
        <p:spPr>
          <a:xfrm>
            <a:off x="3785616" y="1796796"/>
            <a:ext cx="1572768" cy="329184"/>
          </a:xfrm>
          <a:prstGeom prst="rect">
            <a:avLst/>
          </a:prstGeom>
          <a:noFill/>
          <a:ln/>
        </p:spPr>
        <p:txBody>
          <a:bodyPr wrap="square" rtlCol="0" anchor="ctr"/>
          <a:lstStyle/>
          <a:p>
            <a:pPr marL="0" indent="0" algn="ctr">
              <a:buNone/>
            </a:pPr>
            <a:r>
              <a:rPr lang="en-US" sz="850" dirty="0">
                <a:solidFill>
                  <a:srgbClr val="AACCAA"/>
                </a:solidFill>
                <a:latin typeface="Calibri" pitchFamily="34" charset="0"/>
                <a:ea typeface="Calibri" pitchFamily="34" charset="-122"/>
                <a:cs typeface="Calibri" pitchFamily="34" charset="-120"/>
              </a:rPr>
              <a:t>Real-ride data collection; threshold calibration</a:t>
            </a:r>
            <a:endParaRPr lang="en-US" sz="850" dirty="0"/>
          </a:p>
        </p:txBody>
      </p:sp>
      <p:sp>
        <p:nvSpPr>
          <p:cNvPr id="24" name="Shape 22"/>
          <p:cNvSpPr/>
          <p:nvPr/>
        </p:nvSpPr>
        <p:spPr>
          <a:xfrm>
            <a:off x="5998464" y="996696"/>
            <a:ext cx="256032" cy="256032"/>
          </a:xfrm>
          <a:prstGeom prst="ellipse">
            <a:avLst/>
          </a:prstGeom>
          <a:solidFill>
            <a:srgbClr val="1DB954"/>
          </a:solidFill>
          <a:ln w="12700">
            <a:solidFill>
              <a:srgbClr val="FFFFFF"/>
            </a:solidFill>
            <a:prstDash val="solid"/>
          </a:ln>
        </p:spPr>
      </p:sp>
      <p:sp>
        <p:nvSpPr>
          <p:cNvPr id="25" name="Shape 23"/>
          <p:cNvSpPr/>
          <p:nvPr/>
        </p:nvSpPr>
        <p:spPr>
          <a:xfrm>
            <a:off x="5449824" y="1339596"/>
            <a:ext cx="1572768" cy="804672"/>
          </a:xfrm>
          <a:prstGeom prst="rect">
            <a:avLst/>
          </a:prstGeom>
          <a:solidFill>
            <a:srgbClr val="1A2E1F"/>
          </a:solidFill>
          <a:ln w="12700">
            <a:solidFill>
              <a:srgbClr val="1DB954"/>
            </a:solidFill>
            <a:prstDash val="solid"/>
          </a:ln>
        </p:spPr>
      </p:sp>
      <p:sp>
        <p:nvSpPr>
          <p:cNvPr id="26" name="Text 24"/>
          <p:cNvSpPr/>
          <p:nvPr/>
        </p:nvSpPr>
        <p:spPr>
          <a:xfrm>
            <a:off x="5449824" y="1357884"/>
            <a:ext cx="1572768" cy="219456"/>
          </a:xfrm>
          <a:prstGeom prst="rect">
            <a:avLst/>
          </a:prstGeom>
          <a:noFill/>
          <a:ln/>
        </p:spPr>
        <p:txBody>
          <a:bodyPr wrap="square" rtlCol="0" anchor="ctr"/>
          <a:lstStyle/>
          <a:p>
            <a:pPr marL="0" indent="0" algn="ctr">
              <a:buNone/>
            </a:pPr>
            <a:r>
              <a:rPr lang="en-US" sz="900" b="1" dirty="0">
                <a:solidFill>
                  <a:srgbClr val="1DB954"/>
                </a:solidFill>
                <a:latin typeface="Calibri" pitchFamily="34" charset="0"/>
                <a:ea typeface="Calibri" pitchFamily="34" charset="-122"/>
                <a:cs typeface="Calibri" pitchFamily="34" charset="-120"/>
              </a:rPr>
              <a:t>Month 4</a:t>
            </a:r>
            <a:endParaRPr lang="en-US" sz="900" dirty="0"/>
          </a:p>
        </p:txBody>
      </p:sp>
      <p:sp>
        <p:nvSpPr>
          <p:cNvPr id="27" name="Text 25"/>
          <p:cNvSpPr/>
          <p:nvPr/>
        </p:nvSpPr>
        <p:spPr>
          <a:xfrm>
            <a:off x="5449824" y="1559052"/>
            <a:ext cx="1572768"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 &amp; Cloud</a:t>
            </a:r>
            <a:endParaRPr lang="en-US" sz="1000" dirty="0"/>
          </a:p>
        </p:txBody>
      </p:sp>
      <p:sp>
        <p:nvSpPr>
          <p:cNvPr id="28" name="Text 26"/>
          <p:cNvSpPr/>
          <p:nvPr/>
        </p:nvSpPr>
        <p:spPr>
          <a:xfrm>
            <a:off x="5449824" y="1796796"/>
            <a:ext cx="1572768" cy="329184"/>
          </a:xfrm>
          <a:prstGeom prst="rect">
            <a:avLst/>
          </a:prstGeom>
          <a:noFill/>
          <a:ln/>
        </p:spPr>
        <p:txBody>
          <a:bodyPr wrap="square" rtlCol="0" anchor="ctr"/>
          <a:lstStyle/>
          <a:p>
            <a:pPr marL="0" indent="0" algn="ctr">
              <a:buNone/>
            </a:pPr>
            <a:r>
              <a:rPr lang="en-US" sz="850" dirty="0">
                <a:solidFill>
                  <a:srgbClr val="AACCAA"/>
                </a:solidFill>
                <a:latin typeface="Calibri" pitchFamily="34" charset="0"/>
                <a:ea typeface="Calibri" pitchFamily="34" charset="-122"/>
                <a:cs typeface="Calibri" pitchFamily="34" charset="-120"/>
              </a:rPr>
              <a:t>BLE app; MQTT cloud dashboard; UX testing</a:t>
            </a:r>
            <a:endParaRPr lang="en-US" sz="850" dirty="0"/>
          </a:p>
        </p:txBody>
      </p:sp>
      <p:sp>
        <p:nvSpPr>
          <p:cNvPr id="29" name="Shape 27"/>
          <p:cNvSpPr/>
          <p:nvPr/>
        </p:nvSpPr>
        <p:spPr>
          <a:xfrm>
            <a:off x="7662672" y="996696"/>
            <a:ext cx="256032" cy="256032"/>
          </a:xfrm>
          <a:prstGeom prst="ellipse">
            <a:avLst/>
          </a:prstGeom>
          <a:solidFill>
            <a:srgbClr val="1DB954"/>
          </a:solidFill>
          <a:ln w="12700">
            <a:solidFill>
              <a:srgbClr val="FFFFFF"/>
            </a:solidFill>
            <a:prstDash val="solid"/>
          </a:ln>
        </p:spPr>
      </p:sp>
      <p:sp>
        <p:nvSpPr>
          <p:cNvPr id="30" name="Shape 28"/>
          <p:cNvSpPr/>
          <p:nvPr/>
        </p:nvSpPr>
        <p:spPr>
          <a:xfrm>
            <a:off x="7114032" y="1339596"/>
            <a:ext cx="1572768" cy="804672"/>
          </a:xfrm>
          <a:prstGeom prst="rect">
            <a:avLst/>
          </a:prstGeom>
          <a:solidFill>
            <a:srgbClr val="0E1A14"/>
          </a:solidFill>
          <a:ln w="12700">
            <a:solidFill>
              <a:srgbClr val="1DB954"/>
            </a:solidFill>
            <a:prstDash val="solid"/>
          </a:ln>
        </p:spPr>
      </p:sp>
      <p:sp>
        <p:nvSpPr>
          <p:cNvPr id="31" name="Text 29"/>
          <p:cNvSpPr/>
          <p:nvPr/>
        </p:nvSpPr>
        <p:spPr>
          <a:xfrm>
            <a:off x="7114032" y="1357884"/>
            <a:ext cx="1572768" cy="219456"/>
          </a:xfrm>
          <a:prstGeom prst="rect">
            <a:avLst/>
          </a:prstGeom>
          <a:noFill/>
          <a:ln/>
        </p:spPr>
        <p:txBody>
          <a:bodyPr wrap="square" rtlCol="0" anchor="ctr"/>
          <a:lstStyle/>
          <a:p>
            <a:pPr marL="0" indent="0" algn="ctr">
              <a:buNone/>
            </a:pPr>
            <a:r>
              <a:rPr lang="en-US" sz="900" b="1" dirty="0">
                <a:solidFill>
                  <a:srgbClr val="1DB954"/>
                </a:solidFill>
                <a:latin typeface="Calibri" pitchFamily="34" charset="0"/>
                <a:ea typeface="Calibri" pitchFamily="34" charset="-122"/>
                <a:cs typeface="Calibri" pitchFamily="34" charset="-120"/>
              </a:rPr>
              <a:t>Month 5</a:t>
            </a:r>
            <a:endParaRPr lang="en-US" sz="900" dirty="0"/>
          </a:p>
        </p:txBody>
      </p:sp>
      <p:sp>
        <p:nvSpPr>
          <p:cNvPr id="32" name="Text 30"/>
          <p:cNvSpPr/>
          <p:nvPr/>
        </p:nvSpPr>
        <p:spPr>
          <a:xfrm>
            <a:off x="7114032" y="1559052"/>
            <a:ext cx="1572768"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Validation</a:t>
            </a:r>
            <a:endParaRPr lang="en-US" sz="1000" dirty="0"/>
          </a:p>
        </p:txBody>
      </p:sp>
      <p:sp>
        <p:nvSpPr>
          <p:cNvPr id="33" name="Text 31"/>
          <p:cNvSpPr/>
          <p:nvPr/>
        </p:nvSpPr>
        <p:spPr>
          <a:xfrm>
            <a:off x="7114032" y="1796796"/>
            <a:ext cx="1572768" cy="329184"/>
          </a:xfrm>
          <a:prstGeom prst="rect">
            <a:avLst/>
          </a:prstGeom>
          <a:noFill/>
          <a:ln/>
        </p:spPr>
        <p:txBody>
          <a:bodyPr wrap="square" rtlCol="0" anchor="ctr"/>
          <a:lstStyle/>
          <a:p>
            <a:pPr marL="0" indent="0" algn="ctr">
              <a:buNone/>
            </a:pPr>
            <a:r>
              <a:rPr lang="en-US" sz="850" dirty="0">
                <a:solidFill>
                  <a:srgbClr val="AACCAA"/>
                </a:solidFill>
                <a:latin typeface="Calibri" pitchFamily="34" charset="0"/>
                <a:ea typeface="Calibri" pitchFamily="34" charset="-122"/>
                <a:cs typeface="Calibri" pitchFamily="34" charset="-120"/>
              </a:rPr>
              <a:t>Benchmarking vs existing; accuracy report</a:t>
            </a:r>
            <a:endParaRPr lang="en-US" sz="850" dirty="0"/>
          </a:p>
        </p:txBody>
      </p:sp>
      <p:sp>
        <p:nvSpPr>
          <p:cNvPr id="34" name="Text 32"/>
          <p:cNvSpPr/>
          <p:nvPr/>
        </p:nvSpPr>
        <p:spPr>
          <a:xfrm>
            <a:off x="365760" y="2242742"/>
            <a:ext cx="8412480" cy="274320"/>
          </a:xfrm>
          <a:prstGeom prst="rect">
            <a:avLst/>
          </a:prstGeom>
          <a:noFill/>
          <a:ln/>
        </p:spPr>
        <p:txBody>
          <a:bodyPr wrap="square" rtlCol="0" anchor="ctr"/>
          <a:lstStyle/>
          <a:p>
            <a:pPr marL="0" indent="0">
              <a:buNone/>
            </a:pPr>
            <a:r>
              <a:rPr lang="en-US" sz="1300" b="1" dirty="0">
                <a:solidFill>
                  <a:srgbClr val="0E7A3A"/>
                </a:solidFill>
                <a:latin typeface="Calibri" pitchFamily="34" charset="0"/>
                <a:ea typeface="Calibri" pitchFamily="34" charset="-122"/>
                <a:cs typeface="Calibri" pitchFamily="34" charset="-120"/>
              </a:rPr>
              <a:t>Budget Required for Prototype</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3952249752"/>
              </p:ext>
            </p:extLst>
          </p:nvPr>
        </p:nvGraphicFramePr>
        <p:xfrm>
          <a:off x="365760" y="2571750"/>
          <a:ext cx="8412480" cy="2133600"/>
        </p:xfrm>
        <a:graphic>
          <a:graphicData uri="http://schemas.openxmlformats.org/drawingml/2006/table">
            <a:tbl>
              <a:tblPr/>
              <a:tblGrid>
                <a:gridCol w="6583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24003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Estimated Cost</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DB954"/>
                    </a:solidFill>
                  </a:tcPr>
                </a:tc>
                <a:extLst>
                  <a:ext uri="{0D108BD9-81ED-4DB2-BD59-A6C34878D82A}">
                    <a16:rowId xmlns:a16="http://schemas.microsoft.com/office/drawing/2014/main" val="10000"/>
                  </a:ext>
                </a:extLst>
              </a:tr>
              <a:tr h="24003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Hardware (ESP32, IMU, GPS, barometer ×3 units)</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b="1" dirty="0">
                          <a:solidFill>
                            <a:srgbClr val="0E7A3A"/>
                          </a:solidFill>
                          <a:latin typeface="Calibri" pitchFamily="34" charset="0"/>
                          <a:ea typeface="Calibri" pitchFamily="34" charset="-122"/>
                          <a:cs typeface="Calibri" pitchFamily="34" charset="-120"/>
                        </a:rPr>
                        <a:t>₹3,500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4003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PCB fabrication &amp; enclosure (weatherproof)</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b="1" dirty="0">
                          <a:solidFill>
                            <a:srgbClr val="0E7A3A"/>
                          </a:solidFill>
                          <a:latin typeface="Calibri" pitchFamily="34" charset="0"/>
                          <a:ea typeface="Calibri" pitchFamily="34" charset="-122"/>
                          <a:cs typeface="Calibri" pitchFamily="34" charset="-120"/>
                        </a:rPr>
                        <a:t>₹4,000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4003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Cloud hosting (AWS IoT / Firebase — 6 months)</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b="1" dirty="0">
                          <a:solidFill>
                            <a:srgbClr val="0E7A3A"/>
                          </a:solidFill>
                          <a:latin typeface="Calibri" pitchFamily="34" charset="0"/>
                          <a:ea typeface="Calibri" pitchFamily="34" charset="-122"/>
                          <a:cs typeface="Calibri" pitchFamily="34" charset="-120"/>
                        </a:rPr>
                        <a:t>₹2,500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4003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App development (React Native)</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b="1" dirty="0">
                          <a:solidFill>
                            <a:srgbClr val="0E7A3A"/>
                          </a:solidFill>
                          <a:latin typeface="Calibri" pitchFamily="34" charset="0"/>
                          <a:ea typeface="Calibri" pitchFamily="34" charset="-122"/>
                          <a:cs typeface="Calibri" pitchFamily="34" charset="-120"/>
                        </a:rPr>
                        <a:t>₹0 (in-house)</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4003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Testing &amp; field data collection</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b="1" dirty="0">
                          <a:solidFill>
                            <a:srgbClr val="0E7A3A"/>
                          </a:solidFill>
                          <a:latin typeface="Calibri" pitchFamily="34" charset="0"/>
                          <a:ea typeface="Calibri" pitchFamily="34" charset="-122"/>
                          <a:cs typeface="Calibri" pitchFamily="34" charset="-120"/>
                        </a:rPr>
                        <a:t>₹2,000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4003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Contingency (10%)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150" b="1" dirty="0">
                          <a:solidFill>
                            <a:srgbClr val="0E7A3A"/>
                          </a:solidFill>
                          <a:latin typeface="Calibri" pitchFamily="34" charset="0"/>
                          <a:ea typeface="Calibri" pitchFamily="34" charset="-122"/>
                          <a:cs typeface="Calibri" pitchFamily="34" charset="-120"/>
                        </a:rPr>
                        <a:t>₹1,200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24003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1A14"/>
                    </a:solidFill>
                  </a:tcPr>
                </a:tc>
                <a:tc>
                  <a:txBody>
                    <a:bodyPr/>
                    <a:lstStyle/>
                    <a:p>
                      <a:pPr marL="0" indent="0" algn="ctr">
                        <a:buNone/>
                      </a:pPr>
                      <a:r>
                        <a:rPr lang="en-US" sz="1150" b="1" dirty="0">
                          <a:solidFill>
                            <a:srgbClr val="1DB954"/>
                          </a:solidFill>
                          <a:latin typeface="Calibri" pitchFamily="34" charset="0"/>
                          <a:ea typeface="Calibri" pitchFamily="34" charset="-122"/>
                          <a:cs typeface="Calibri" pitchFamily="34" charset="-120"/>
                        </a:rPr>
                        <a:t>₹13,200</a:t>
                      </a:r>
                      <a:endParaRPr lang="en-US" sz="11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1A14"/>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9525">
            <a:solidFill>
              <a:srgbClr val="1DB954"/>
            </a:solidFill>
            <a:prstDash val="solid"/>
          </a:ln>
        </p:spPr>
      </p:sp>
      <p:sp>
        <p:nvSpPr>
          <p:cNvPr id="3" name="Shape 1"/>
          <p:cNvSpPr/>
          <p:nvPr/>
        </p:nvSpPr>
        <p:spPr>
          <a:xfrm>
            <a:off x="0" y="5143500"/>
            <a:ext cx="9144000" cy="0"/>
          </a:xfrm>
          <a:prstGeom prst="line">
            <a:avLst/>
          </a:prstGeom>
          <a:noFill/>
          <a:ln w="9525">
            <a:solidFill>
              <a:srgbClr val="1DB954"/>
            </a:solidFill>
            <a:prstDash val="solid"/>
          </a:ln>
        </p:spPr>
      </p:sp>
      <p:sp>
        <p:nvSpPr>
          <p:cNvPr id="4" name="Shape 2"/>
          <p:cNvSpPr/>
          <p:nvPr/>
        </p:nvSpPr>
        <p:spPr>
          <a:xfrm>
            <a:off x="0" y="0"/>
            <a:ext cx="0" cy="5143500"/>
          </a:xfrm>
          <a:prstGeom prst="line">
            <a:avLst/>
          </a:prstGeom>
          <a:noFill/>
          <a:ln w="9525">
            <a:solidFill>
              <a:srgbClr val="1DB954"/>
            </a:solidFill>
            <a:prstDash val="solid"/>
          </a:ln>
        </p:spPr>
      </p:sp>
      <p:sp>
        <p:nvSpPr>
          <p:cNvPr id="5" name="Shape 3"/>
          <p:cNvSpPr/>
          <p:nvPr/>
        </p:nvSpPr>
        <p:spPr>
          <a:xfrm>
            <a:off x="9144000" y="0"/>
            <a:ext cx="0" cy="5143500"/>
          </a:xfrm>
          <a:prstGeom prst="line">
            <a:avLst/>
          </a:prstGeom>
          <a:noFill/>
          <a:ln w="9525">
            <a:solidFill>
              <a:srgbClr val="1DB954"/>
            </a:solidFill>
            <a:prstDash val="solid"/>
          </a:ln>
        </p:spPr>
      </p:sp>
      <p:sp>
        <p:nvSpPr>
          <p:cNvPr id="6" name="Text 4"/>
          <p:cNvSpPr/>
          <p:nvPr/>
        </p:nvSpPr>
        <p:spPr>
          <a:xfrm>
            <a:off x="457200" y="1005840"/>
            <a:ext cx="8229600" cy="640080"/>
          </a:xfrm>
          <a:prstGeom prst="rect">
            <a:avLst/>
          </a:prstGeom>
          <a:noFill/>
          <a:ln/>
        </p:spPr>
        <p:txBody>
          <a:bodyPr wrap="square" rtlCol="0" anchor="ctr"/>
          <a:lstStyle/>
          <a:p>
            <a:pPr marL="0" indent="0" algn="ctr">
              <a:buNone/>
            </a:pPr>
            <a:r>
              <a:rPr lang="en-US" sz="1800" dirty="0">
                <a:solidFill>
                  <a:srgbClr val="888888"/>
                </a:solidFill>
              </a:rPr>
              <a:t>VARROC </a:t>
            </a:r>
            <a:r>
              <a:rPr lang="en-US" sz="2800" b="1" i="1" dirty="0">
                <a:solidFill>
                  <a:srgbClr val="1DB954"/>
                </a:solidFill>
              </a:rPr>
              <a:t>eureka</a:t>
            </a:r>
            <a:r>
              <a:rPr lang="en-US" sz="1800" dirty="0">
                <a:solidFill>
                  <a:srgbClr val="888888"/>
                </a:solidFill>
              </a:rPr>
              <a:t> CHALLENGE</a:t>
            </a:r>
            <a:endParaRPr lang="en-US" sz="1800" dirty="0"/>
          </a:p>
        </p:txBody>
      </p:sp>
      <p:sp>
        <p:nvSpPr>
          <p:cNvPr id="7" name="Text 5"/>
          <p:cNvSpPr/>
          <p:nvPr/>
        </p:nvSpPr>
        <p:spPr>
          <a:xfrm>
            <a:off x="457200" y="1828800"/>
            <a:ext cx="8229600" cy="109728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8" name="Text 6"/>
          <p:cNvSpPr/>
          <p:nvPr/>
        </p:nvSpPr>
        <p:spPr>
          <a:xfrm>
            <a:off x="457200" y="3108960"/>
            <a:ext cx="8229600" cy="411480"/>
          </a:xfrm>
          <a:prstGeom prst="rect">
            <a:avLst/>
          </a:prstGeom>
          <a:noFill/>
          <a:ln/>
        </p:spPr>
        <p:txBody>
          <a:bodyPr wrap="square" rtlCol="0" anchor="ctr"/>
          <a:lstStyle/>
          <a:p>
            <a:pPr marL="0" indent="0" algn="ctr">
              <a:buNone/>
            </a:pPr>
            <a:r>
              <a:rPr lang="en-US" sz="1300" dirty="0">
                <a:solidFill>
                  <a:srgbClr val="1DB954"/>
                </a:solidFill>
                <a:latin typeface="Calibri" pitchFamily="34" charset="0"/>
                <a:ea typeface="Calibri" pitchFamily="34" charset="-122"/>
                <a:cs typeface="Calibri" pitchFamily="34" charset="-120"/>
              </a:rPr>
              <a:t>Team Logic Builders  |  Problem Statement 3: Two-Wheeler Driving Behavior Score</a:t>
            </a:r>
            <a:endParaRPr lang="en-US" sz="1300" dirty="0"/>
          </a:p>
        </p:txBody>
      </p:sp>
      <p:sp>
        <p:nvSpPr>
          <p:cNvPr id="9" name="Shape 7"/>
          <p:cNvSpPr/>
          <p:nvPr/>
        </p:nvSpPr>
        <p:spPr>
          <a:xfrm>
            <a:off x="0" y="4754880"/>
            <a:ext cx="9144000" cy="388620"/>
          </a:xfrm>
          <a:prstGeom prst="rect">
            <a:avLst/>
          </a:prstGeom>
          <a:solidFill>
            <a:srgbClr val="111111"/>
          </a:solidFill>
          <a:ln w="12700">
            <a:solidFill>
              <a:srgbClr val="111111"/>
            </a:solidFill>
            <a:prstDash val="solid"/>
          </a:ln>
        </p:spPr>
      </p:sp>
      <p:sp>
        <p:nvSpPr>
          <p:cNvPr id="10" name="Text 8"/>
          <p:cNvSpPr/>
          <p:nvPr/>
        </p:nvSpPr>
        <p:spPr>
          <a:xfrm>
            <a:off x="274320" y="4754880"/>
            <a:ext cx="2743200" cy="388620"/>
          </a:xfrm>
          <a:prstGeom prst="rect">
            <a:avLst/>
          </a:prstGeom>
          <a:noFill/>
          <a:ln/>
        </p:spPr>
        <p:txBody>
          <a:bodyPr wrap="square" lIns="0" tIns="0" rIns="0" bIns="0" rtlCol="0" anchor="ctr"/>
          <a:lstStyle/>
          <a:p>
            <a:pPr marL="0" indent="0">
              <a:buNone/>
            </a:pPr>
            <a:r>
              <a:rPr lang="en-US" sz="1000" b="1" dirty="0">
                <a:solidFill>
                  <a:srgbClr val="CC2222"/>
                </a:solidFill>
              </a:rPr>
              <a:t>BRILLIANCE</a:t>
            </a:r>
            <a:r>
              <a:rPr lang="en-US" sz="1000" b="1" dirty="0">
                <a:solidFill>
                  <a:srgbClr val="FFFFFF"/>
                </a:solidFill>
              </a:rPr>
              <a:t>@SCALE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1659</Words>
  <Application>Microsoft Office PowerPoint</Application>
  <PresentationFormat>On-screen Show (16:9)</PresentationFormat>
  <Paragraphs>311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Varroc Eureka Challenge - PS3 Submission</dc:title>
  <dc:subject>PptxGenJS Presentation</dc:subject>
  <dc:creator>PptxGenJS</dc:creator>
  <cp:lastModifiedBy>Meghma Das</cp:lastModifiedBy>
  <cp:revision>5</cp:revision>
  <dcterms:created xsi:type="dcterms:W3CDTF">2026-03-27T13:38:22Z</dcterms:created>
  <dcterms:modified xsi:type="dcterms:W3CDTF">2026-03-28T08:40:35Z</dcterms:modified>
</cp:coreProperties>
</file>